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Tenor Sans" charset="1" panose="02000000000000000000"/>
      <p:regular r:id="rId20"/>
    </p:embeddedFont>
    <p:embeddedFont>
      <p:font typeface="Clear Sans" charset="1" panose="020B0503030202020304"/>
      <p:regular r:id="rId21"/>
    </p:embeddedFont>
    <p:embeddedFont>
      <p:font typeface="Clear Sans Bold" charset="1" panose="020B08030302020203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63943"/>
        </a:solidFill>
      </p:bgPr>
    </p:bg>
    <p:spTree>
      <p:nvGrpSpPr>
        <p:cNvPr id="1" name=""/>
        <p:cNvGrpSpPr/>
        <p:nvPr/>
      </p:nvGrpSpPr>
      <p:grpSpPr>
        <a:xfrm>
          <a:off x="0" y="0"/>
          <a:ext cx="0" cy="0"/>
          <a:chOff x="0" y="0"/>
          <a:chExt cx="0" cy="0"/>
        </a:xfrm>
      </p:grpSpPr>
      <p:grpSp>
        <p:nvGrpSpPr>
          <p:cNvPr name="Group 2" id="2"/>
          <p:cNvGrpSpPr/>
          <p:nvPr/>
        </p:nvGrpSpPr>
        <p:grpSpPr>
          <a:xfrm rot="0">
            <a:off x="644240" y="1716594"/>
            <a:ext cx="9763125" cy="6853811"/>
            <a:chOff x="0" y="0"/>
            <a:chExt cx="13017500" cy="9138415"/>
          </a:xfrm>
        </p:grpSpPr>
        <p:sp>
          <p:nvSpPr>
            <p:cNvPr name="TextBox 3" id="3"/>
            <p:cNvSpPr txBox="true"/>
            <p:nvPr/>
          </p:nvSpPr>
          <p:spPr>
            <a:xfrm rot="0">
              <a:off x="0" y="190500"/>
              <a:ext cx="13017500" cy="5499100"/>
            </a:xfrm>
            <a:prstGeom prst="rect">
              <a:avLst/>
            </a:prstGeom>
          </p:spPr>
          <p:txBody>
            <a:bodyPr anchor="t" rtlCol="false" tIns="0" lIns="0" bIns="0" rIns="0">
              <a:spAutoFit/>
            </a:bodyPr>
            <a:lstStyle/>
            <a:p>
              <a:pPr algn="l" marL="0" indent="0" lvl="0">
                <a:lnSpc>
                  <a:spcPts val="10500"/>
                </a:lnSpc>
              </a:pPr>
              <a:r>
                <a:rPr lang="en-US" sz="10500" spc="-210">
                  <a:solidFill>
                    <a:srgbClr val="FBF1F2"/>
                  </a:solidFill>
                  <a:latin typeface="Tenor Sans"/>
                  <a:ea typeface="Tenor Sans"/>
                  <a:cs typeface="Tenor Sans"/>
                  <a:sym typeface="Tenor Sans"/>
                </a:rPr>
                <a:t>Machine Learning Project</a:t>
              </a:r>
            </a:p>
          </p:txBody>
        </p:sp>
        <p:sp>
          <p:nvSpPr>
            <p:cNvPr name="TextBox 4" id="4"/>
            <p:cNvSpPr txBox="true"/>
            <p:nvPr/>
          </p:nvSpPr>
          <p:spPr>
            <a:xfrm rot="0">
              <a:off x="0" y="6199644"/>
              <a:ext cx="13017500" cy="2938771"/>
            </a:xfrm>
            <a:prstGeom prst="rect">
              <a:avLst/>
            </a:prstGeom>
          </p:spPr>
          <p:txBody>
            <a:bodyPr anchor="t" rtlCol="false" tIns="0" lIns="0" bIns="0" rIns="0">
              <a:spAutoFit/>
            </a:bodyPr>
            <a:lstStyle/>
            <a:p>
              <a:pPr algn="l" marL="0" indent="0" lvl="0">
                <a:lnSpc>
                  <a:spcPts val="4480"/>
                </a:lnSpc>
                <a:spcBef>
                  <a:spcPct val="0"/>
                </a:spcBef>
              </a:pPr>
              <a:r>
                <a:rPr lang="en-US" sz="3200">
                  <a:solidFill>
                    <a:srgbClr val="FBF1F2"/>
                  </a:solidFill>
                  <a:latin typeface="Clear Sans"/>
                  <a:ea typeface="Clear Sans"/>
                  <a:cs typeface="Clear Sans"/>
                  <a:sym typeface="Clear Sans"/>
                </a:rPr>
                <a:t>PRESENTED BY : </a:t>
              </a:r>
            </a:p>
            <a:p>
              <a:pPr algn="l" marL="0" indent="0" lvl="0">
                <a:lnSpc>
                  <a:spcPts val="4480"/>
                </a:lnSpc>
                <a:spcBef>
                  <a:spcPct val="0"/>
                </a:spcBef>
              </a:pPr>
              <a:r>
                <a:rPr lang="en-US" sz="3200">
                  <a:solidFill>
                    <a:srgbClr val="FBF1F2"/>
                  </a:solidFill>
                  <a:latin typeface="Clear Sans"/>
                  <a:ea typeface="Clear Sans"/>
                  <a:cs typeface="Clear Sans"/>
                  <a:sym typeface="Clear Sans"/>
                </a:rPr>
                <a:t>TANAY YADUKA</a:t>
              </a:r>
            </a:p>
            <a:p>
              <a:pPr algn="l" marL="0" indent="0" lvl="0">
                <a:lnSpc>
                  <a:spcPts val="4480"/>
                </a:lnSpc>
                <a:spcBef>
                  <a:spcPct val="0"/>
                </a:spcBef>
              </a:pPr>
              <a:r>
                <a:rPr lang="en-US" sz="3200">
                  <a:solidFill>
                    <a:srgbClr val="FBF1F2"/>
                  </a:solidFill>
                  <a:latin typeface="Clear Sans"/>
                  <a:ea typeface="Clear Sans"/>
                  <a:cs typeface="Clear Sans"/>
                  <a:sym typeface="Clear Sans"/>
                </a:rPr>
                <a:t>22070521086 7</a:t>
              </a:r>
              <a:r>
                <a:rPr lang="en-US" sz="3200">
                  <a:solidFill>
                    <a:srgbClr val="FBF1F2"/>
                  </a:solidFill>
                  <a:latin typeface="Clear Sans"/>
                  <a:ea typeface="Clear Sans"/>
                  <a:cs typeface="Clear Sans"/>
                  <a:sym typeface="Clear Sans"/>
                </a:rPr>
                <a:t>TH</a:t>
              </a:r>
              <a:r>
                <a:rPr lang="en-US" sz="3200">
                  <a:solidFill>
                    <a:srgbClr val="FBF1F2"/>
                  </a:solidFill>
                  <a:latin typeface="Clear Sans"/>
                  <a:ea typeface="Clear Sans"/>
                  <a:cs typeface="Clear Sans"/>
                  <a:sym typeface="Clear Sans"/>
                </a:rPr>
                <a:t> SEM </a:t>
              </a:r>
            </a:p>
            <a:p>
              <a:pPr algn="l" marL="0" indent="0" lvl="0">
                <a:lnSpc>
                  <a:spcPts val="4480"/>
                </a:lnSpc>
                <a:spcBef>
                  <a:spcPct val="0"/>
                </a:spcBef>
              </a:pPr>
              <a:r>
                <a:rPr lang="en-US" sz="3200">
                  <a:solidFill>
                    <a:srgbClr val="FBF1F2"/>
                  </a:solidFill>
                  <a:latin typeface="Clear Sans"/>
                  <a:ea typeface="Clear Sans"/>
                  <a:cs typeface="Clear Sans"/>
                  <a:sym typeface="Clear Sans"/>
                </a:rPr>
                <a:t>SECTION C</a:t>
              </a:r>
            </a:p>
          </p:txBody>
        </p:sp>
      </p:grpSp>
      <p:grpSp>
        <p:nvGrpSpPr>
          <p:cNvPr name="Group 5" id="5"/>
          <p:cNvGrpSpPr/>
          <p:nvPr/>
        </p:nvGrpSpPr>
        <p:grpSpPr>
          <a:xfrm rot="0">
            <a:off x="12172950" y="0"/>
            <a:ext cx="6115050" cy="10287000"/>
            <a:chOff x="0" y="0"/>
            <a:chExt cx="947381" cy="1593725"/>
          </a:xfrm>
        </p:grpSpPr>
        <p:sp>
          <p:nvSpPr>
            <p:cNvPr name="Freeform 6" id="6"/>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2"/>
              <a:stretch>
                <a:fillRect l="-34112" t="0" r="-34112" b="0"/>
              </a:stretch>
            </a:blipFill>
          </p:spPr>
        </p:sp>
      </p:grpSp>
      <p:sp>
        <p:nvSpPr>
          <p:cNvPr name="Freeform 7" id="7"/>
          <p:cNvSpPr/>
          <p:nvPr/>
        </p:nvSpPr>
        <p:spPr>
          <a:xfrm flipH="false" flipV="false" rot="0">
            <a:off x="8774635" y="7396104"/>
            <a:ext cx="6274865" cy="4114800"/>
          </a:xfrm>
          <a:custGeom>
            <a:avLst/>
            <a:gdLst/>
            <a:ahLst/>
            <a:cxnLst/>
            <a:rect r="r" b="b" t="t" l="l"/>
            <a:pathLst>
              <a:path h="4114800" w="6274865">
                <a:moveTo>
                  <a:pt x="0" y="0"/>
                </a:moveTo>
                <a:lnTo>
                  <a:pt x="6274865" y="0"/>
                </a:lnTo>
                <a:lnTo>
                  <a:pt x="627486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63943"/>
        </a:solidFill>
      </p:bgPr>
    </p:bg>
    <p:spTree>
      <p:nvGrpSpPr>
        <p:cNvPr id="1" name=""/>
        <p:cNvGrpSpPr/>
        <p:nvPr/>
      </p:nvGrpSpPr>
      <p:grpSpPr>
        <a:xfrm>
          <a:off x="0" y="0"/>
          <a:ext cx="0" cy="0"/>
          <a:chOff x="0" y="0"/>
          <a:chExt cx="0" cy="0"/>
        </a:xfrm>
      </p:grpSpPr>
      <p:sp>
        <p:nvSpPr>
          <p:cNvPr name="Freeform 2" id="2"/>
          <p:cNvSpPr/>
          <p:nvPr/>
        </p:nvSpPr>
        <p:spPr>
          <a:xfrm flipH="false" flipV="false" rot="0">
            <a:off x="15150568"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273384" y="314222"/>
            <a:ext cx="12362578" cy="9702318"/>
          </a:xfrm>
          <a:prstGeom prst="rect">
            <a:avLst/>
          </a:prstGeom>
        </p:spPr>
        <p:txBody>
          <a:bodyPr anchor="t" rtlCol="false" tIns="0" lIns="0" bIns="0" rIns="0">
            <a:spAutoFit/>
          </a:bodyPr>
          <a:lstStyle/>
          <a:p>
            <a:pPr algn="l">
              <a:lnSpc>
                <a:spcPts val="3876"/>
              </a:lnSpc>
            </a:pPr>
            <a:r>
              <a:rPr lang="en-US" sz="2768" b="true">
                <a:solidFill>
                  <a:srgbClr val="FFFFFF"/>
                </a:solidFill>
                <a:latin typeface="Clear Sans Bold"/>
                <a:ea typeface="Clear Sans Bold"/>
                <a:cs typeface="Clear Sans Bold"/>
                <a:sym typeface="Clear Sans Bold"/>
              </a:rPr>
              <a:t>DATASET OVERVIEW: INDIA'S ENERGY PROFILE (TIME SERIES DATA)</a:t>
            </a:r>
          </a:p>
          <a:p>
            <a:pPr algn="l">
              <a:lnSpc>
                <a:spcPts val="3876"/>
              </a:lnSpc>
            </a:pPr>
            <a:r>
              <a:rPr lang="en-US" sz="2768" b="true">
                <a:solidFill>
                  <a:srgbClr val="FFFFFF"/>
                </a:solidFill>
                <a:latin typeface="Clear Sans Bold"/>
                <a:ea typeface="Clear Sans Bold"/>
                <a:cs typeface="Clear Sans Bold"/>
                <a:sym typeface="Clear Sans Bold"/>
              </a:rPr>
              <a:t>Goal: Conduct a data-driven study on India's Energy Requirements</a:t>
            </a:r>
          </a:p>
          <a:p>
            <a:pPr algn="l">
              <a:lnSpc>
                <a:spcPts val="3876"/>
              </a:lnSpc>
            </a:pPr>
            <a:r>
              <a:rPr lang="en-US" sz="2768" b="true">
                <a:solidFill>
                  <a:srgbClr val="FFFFFF"/>
                </a:solidFill>
                <a:latin typeface="Clear Sans Bold"/>
                <a:ea typeface="Clear Sans Bold"/>
                <a:cs typeface="Clear Sans Bold"/>
                <a:sym typeface="Clear Sans Bold"/>
              </a:rPr>
              <a:t> and Availability for predictive planning.</a:t>
            </a:r>
          </a:p>
          <a:p>
            <a:pPr algn="l">
              <a:lnSpc>
                <a:spcPts val="3876"/>
              </a:lnSpc>
            </a:pPr>
            <a:r>
              <a:rPr lang="en-US" sz="2768" b="true">
                <a:solidFill>
                  <a:srgbClr val="FFFFFF"/>
                </a:solidFill>
                <a:latin typeface="Clear Sans Bold"/>
                <a:ea typeface="Clear Sans Bold"/>
                <a:cs typeface="Clear Sans Bold"/>
                <a:sym typeface="Clear Sans Bold"/>
              </a:rPr>
              <a:t>Data Scope &amp; Provenance:</a:t>
            </a:r>
          </a:p>
          <a:p>
            <a:pPr algn="l" marL="597824" indent="-298912" lvl="1">
              <a:lnSpc>
                <a:spcPts val="3876"/>
              </a:lnSpc>
              <a:spcBef>
                <a:spcPct val="0"/>
              </a:spcBef>
              <a:buFont typeface="Arial"/>
              <a:buChar char="•"/>
            </a:pPr>
            <a:r>
              <a:rPr lang="en-US" b="true" sz="2768">
                <a:solidFill>
                  <a:srgbClr val="FFFFFF"/>
                </a:solidFill>
                <a:latin typeface="Clear Sans Bold"/>
                <a:ea typeface="Clear Sans Bold"/>
                <a:cs typeface="Clear Sans Bold"/>
                <a:sym typeface="Clear Sans Bold"/>
              </a:rPr>
              <a:t>S</a:t>
            </a:r>
            <a:r>
              <a:rPr lang="en-US" b="true" sz="2768">
                <a:solidFill>
                  <a:srgbClr val="FFFFFF"/>
                </a:solidFill>
                <a:latin typeface="Clear Sans Bold"/>
                <a:ea typeface="Clear Sans Bold"/>
                <a:cs typeface="Clear Sans Bold"/>
                <a:sym typeface="Clear Sans Bold"/>
              </a:rPr>
              <a:t>OURCE: OPEN GOVERNMENT DATA (OGD) PLATFORM INDIA .</a:t>
            </a:r>
          </a:p>
          <a:p>
            <a:pPr algn="l" marL="1195648" indent="-398549" lvl="2">
              <a:lnSpc>
                <a:spcPts val="3876"/>
              </a:lnSpc>
              <a:spcBef>
                <a:spcPct val="0"/>
              </a:spcBef>
              <a:buFont typeface="Arial"/>
              <a:buChar char="⚬"/>
            </a:pPr>
            <a:r>
              <a:rPr lang="en-US" b="true" sz="2768">
                <a:solidFill>
                  <a:srgbClr val="FFFFFF"/>
                </a:solidFill>
                <a:latin typeface="Clear Sans Bold"/>
                <a:ea typeface="Clear Sans Bold"/>
                <a:cs typeface="Clear Sans Bold"/>
                <a:sym typeface="Clear Sans Bold"/>
              </a:rPr>
              <a:t>SOURCE AUTHORITY: MINISTRY OF POWER, GOVERNMENT OF INDIA.</a:t>
            </a:r>
          </a:p>
          <a:p>
            <a:pPr algn="l" marL="597824" indent="-298912" lvl="1">
              <a:lnSpc>
                <a:spcPts val="3876"/>
              </a:lnSpc>
              <a:spcBef>
                <a:spcPct val="0"/>
              </a:spcBef>
              <a:buFont typeface="Arial"/>
              <a:buChar char="•"/>
            </a:pPr>
            <a:r>
              <a:rPr lang="en-US" b="true" sz="2768">
                <a:solidFill>
                  <a:srgbClr val="FFFFFF"/>
                </a:solidFill>
                <a:latin typeface="Clear Sans Bold"/>
                <a:ea typeface="Clear Sans Bold"/>
                <a:cs typeface="Clear Sans Bold"/>
                <a:sym typeface="Clear Sans Bold"/>
              </a:rPr>
              <a:t>DATASET NAME: ENERGY REQUIREMENT AND AVAILABILITY.</a:t>
            </a:r>
          </a:p>
          <a:p>
            <a:pPr algn="l" marL="597824" indent="-298912" lvl="1">
              <a:lnSpc>
                <a:spcPts val="3876"/>
              </a:lnSpc>
              <a:spcBef>
                <a:spcPct val="0"/>
              </a:spcBef>
              <a:buFont typeface="Arial"/>
              <a:buChar char="•"/>
            </a:pPr>
            <a:r>
              <a:rPr lang="en-US" b="true" sz="2768">
                <a:solidFill>
                  <a:srgbClr val="FFFFFF"/>
                </a:solidFill>
                <a:latin typeface="Clear Sans Bold"/>
                <a:ea typeface="Clear Sans Bold"/>
                <a:cs typeface="Clear Sans Bold"/>
                <a:sym typeface="Clear Sans Bold"/>
              </a:rPr>
              <a:t>COVERAGE: DATA FOR VARIOUS STATES AND UTS.</a:t>
            </a:r>
          </a:p>
          <a:p>
            <a:pPr algn="l" marL="597824" indent="-298912" lvl="1">
              <a:lnSpc>
                <a:spcPts val="3876"/>
              </a:lnSpc>
              <a:spcBef>
                <a:spcPct val="0"/>
              </a:spcBef>
              <a:buFont typeface="Arial"/>
              <a:buChar char="•"/>
            </a:pPr>
            <a:r>
              <a:rPr lang="en-US" b="true" sz="2768">
                <a:solidFill>
                  <a:srgbClr val="FFFFFF"/>
                </a:solidFill>
                <a:latin typeface="Clear Sans Bold"/>
                <a:ea typeface="Clear Sans Bold"/>
                <a:cs typeface="Clear Sans Bold"/>
                <a:sym typeface="Clear Sans Bold"/>
              </a:rPr>
              <a:t>NATURE: TIME-SERIES DATASET, CAPTURING LONG-TERM </a:t>
            </a:r>
          </a:p>
          <a:p>
            <a:pPr algn="l">
              <a:lnSpc>
                <a:spcPts val="3876"/>
              </a:lnSpc>
              <a:spcBef>
                <a:spcPct val="0"/>
              </a:spcBef>
            </a:pPr>
            <a:r>
              <a:rPr lang="en-US" b="true" sz="2768">
                <a:solidFill>
                  <a:srgbClr val="FFFFFF"/>
                </a:solidFill>
                <a:latin typeface="Clear Sans Bold"/>
                <a:ea typeface="Clear Sans Bold"/>
                <a:cs typeface="Clear Sans Bold"/>
                <a:sym typeface="Clear Sans Bold"/>
              </a:rPr>
              <a:t>       </a:t>
            </a:r>
            <a:r>
              <a:rPr lang="en-US" b="true" sz="2768">
                <a:solidFill>
                  <a:srgbClr val="FFFFFF"/>
                </a:solidFill>
                <a:latin typeface="Clear Sans Bold"/>
                <a:ea typeface="Clear Sans Bold"/>
                <a:cs typeface="Clear Sans Bold"/>
                <a:sym typeface="Clear Sans Bold"/>
              </a:rPr>
              <a:t>TRENDS AND FLUCTUATIONS.</a:t>
            </a:r>
          </a:p>
          <a:p>
            <a:pPr algn="l">
              <a:lnSpc>
                <a:spcPts val="3876"/>
              </a:lnSpc>
              <a:spcBef>
                <a:spcPct val="0"/>
              </a:spcBef>
            </a:pPr>
          </a:p>
          <a:p>
            <a:pPr algn="l">
              <a:lnSpc>
                <a:spcPts val="3876"/>
              </a:lnSpc>
              <a:spcBef>
                <a:spcPct val="0"/>
              </a:spcBef>
            </a:pPr>
            <a:r>
              <a:rPr lang="en-US" b="true" sz="2768">
                <a:solidFill>
                  <a:srgbClr val="FFFFFF"/>
                </a:solidFill>
                <a:latin typeface="Clear Sans Bold"/>
                <a:ea typeface="Clear Sans Bold"/>
                <a:cs typeface="Clear Sans Bold"/>
                <a:sym typeface="Clear Sans Bold"/>
              </a:rPr>
              <a:t>INITIAL ASSESSMENT (REPORT CONFIRMATION):</a:t>
            </a:r>
          </a:p>
          <a:p>
            <a:pPr algn="l" marL="597824" indent="-298912" lvl="1">
              <a:lnSpc>
                <a:spcPts val="3876"/>
              </a:lnSpc>
              <a:spcBef>
                <a:spcPct val="0"/>
              </a:spcBef>
              <a:buFont typeface="Arial"/>
              <a:buChar char="•"/>
            </a:pPr>
            <a:r>
              <a:rPr lang="en-US" b="true" sz="2768">
                <a:solidFill>
                  <a:srgbClr val="FFFFFF"/>
                </a:solidFill>
                <a:latin typeface="Clear Sans Bold"/>
                <a:ea typeface="Clear Sans Bold"/>
                <a:cs typeface="Clear Sans Bold"/>
                <a:sym typeface="Clear Sans Bold"/>
              </a:rPr>
              <a:t>DATA QUALITY WAS HIGH, SUPPORTING ROBUST STATISTICAL MODELING.</a:t>
            </a:r>
          </a:p>
          <a:p>
            <a:pPr algn="l" marL="597824" indent="-298912" lvl="1">
              <a:lnSpc>
                <a:spcPts val="3876"/>
              </a:lnSpc>
              <a:spcBef>
                <a:spcPct val="0"/>
              </a:spcBef>
              <a:buFont typeface="Arial"/>
              <a:buChar char="•"/>
            </a:pPr>
            <a:r>
              <a:rPr lang="en-US" b="true" sz="2768">
                <a:solidFill>
                  <a:srgbClr val="FFFFFF"/>
                </a:solidFill>
                <a:latin typeface="Clear Sans Bold"/>
                <a:ea typeface="Clear Sans Bold"/>
                <a:cs typeface="Clear Sans Bold"/>
                <a:sym typeface="Clear Sans Bold"/>
              </a:rPr>
              <a:t>INITIAL VALIDATION FOUND NO DUPLICATE RECORDS OR MISSING VALUES.</a:t>
            </a:r>
          </a:p>
          <a:p>
            <a:pPr algn="l" marL="597824" indent="-298912" lvl="1">
              <a:lnSpc>
                <a:spcPts val="3876"/>
              </a:lnSpc>
              <a:spcBef>
                <a:spcPct val="0"/>
              </a:spcBef>
              <a:buFont typeface="Arial"/>
              <a:buChar char="•"/>
            </a:pPr>
            <a:r>
              <a:rPr lang="en-US" b="true" sz="2768">
                <a:solidFill>
                  <a:srgbClr val="FFFFFF"/>
                </a:solidFill>
                <a:latin typeface="Clear Sans Bold"/>
                <a:ea typeface="Clear Sans Bold"/>
                <a:cs typeface="Clear Sans Bold"/>
                <a:sym typeface="Clear Sans Bold"/>
              </a:rPr>
              <a:t>EXHIBITED A STRONG TIME-DEPENDENT STRUCTURE, </a:t>
            </a:r>
          </a:p>
          <a:p>
            <a:pPr algn="l">
              <a:lnSpc>
                <a:spcPts val="3876"/>
              </a:lnSpc>
              <a:spcBef>
                <a:spcPct val="0"/>
              </a:spcBef>
            </a:pPr>
            <a:r>
              <a:rPr lang="en-US" b="true" sz="2768">
                <a:solidFill>
                  <a:srgbClr val="FFFFFF"/>
                </a:solidFill>
                <a:latin typeface="Clear Sans Bold"/>
                <a:ea typeface="Clear Sans Bold"/>
                <a:cs typeface="Clear Sans Bold"/>
                <a:sym typeface="Clear Sans Bold"/>
              </a:rPr>
              <a:t>       </a:t>
            </a:r>
            <a:r>
              <a:rPr lang="en-US" b="true" sz="2768">
                <a:solidFill>
                  <a:srgbClr val="FFFFFF"/>
                </a:solidFill>
                <a:latin typeface="Clear Sans Bold"/>
                <a:ea typeface="Clear Sans Bold"/>
                <a:cs typeface="Clear Sans Bold"/>
                <a:sym typeface="Clear Sans Bold"/>
              </a:rPr>
              <a:t>NECESSITATING SPECIFIC TIME SERIES ANALYSIS TECHNIQUES.</a:t>
            </a:r>
          </a:p>
          <a:p>
            <a:pPr algn="l">
              <a:lnSpc>
                <a:spcPts val="3876"/>
              </a:lnSpc>
              <a:spcBef>
                <a:spcPct val="0"/>
              </a:spcBef>
            </a:pPr>
          </a:p>
        </p:txBody>
      </p:sp>
      <p:sp>
        <p:nvSpPr>
          <p:cNvPr name="Freeform 4" id="4"/>
          <p:cNvSpPr/>
          <p:nvPr/>
        </p:nvSpPr>
        <p:spPr>
          <a:xfrm flipH="false" flipV="false" rot="0">
            <a:off x="10448106" y="1028700"/>
            <a:ext cx="7564192" cy="1700325"/>
          </a:xfrm>
          <a:custGeom>
            <a:avLst/>
            <a:gdLst/>
            <a:ahLst/>
            <a:cxnLst/>
            <a:rect r="r" b="b" t="t" l="l"/>
            <a:pathLst>
              <a:path h="1700325" w="7564192">
                <a:moveTo>
                  <a:pt x="0" y="0"/>
                </a:moveTo>
                <a:lnTo>
                  <a:pt x="7564192" y="0"/>
                </a:lnTo>
                <a:lnTo>
                  <a:pt x="7564192" y="1700325"/>
                </a:lnTo>
                <a:lnTo>
                  <a:pt x="0" y="1700325"/>
                </a:lnTo>
                <a:lnTo>
                  <a:pt x="0" y="0"/>
                </a:lnTo>
                <a:close/>
              </a:path>
            </a:pathLst>
          </a:custGeom>
          <a:blipFill>
            <a:blip r:embed="rId4"/>
            <a:stretch>
              <a:fillRect l="0" t="-2271" r="0" b="-891"/>
            </a:stretch>
          </a:blipFill>
        </p:spPr>
      </p:sp>
      <p:sp>
        <p:nvSpPr>
          <p:cNvPr name="Freeform 5" id="5"/>
          <p:cNvSpPr/>
          <p:nvPr/>
        </p:nvSpPr>
        <p:spPr>
          <a:xfrm flipH="false" flipV="false" rot="0">
            <a:off x="12200969" y="3938881"/>
            <a:ext cx="4688746" cy="6077658"/>
          </a:xfrm>
          <a:custGeom>
            <a:avLst/>
            <a:gdLst/>
            <a:ahLst/>
            <a:cxnLst/>
            <a:rect r="r" b="b" t="t" l="l"/>
            <a:pathLst>
              <a:path h="6077658" w="4688746">
                <a:moveTo>
                  <a:pt x="0" y="0"/>
                </a:moveTo>
                <a:lnTo>
                  <a:pt x="4688746" y="0"/>
                </a:lnTo>
                <a:lnTo>
                  <a:pt x="4688746" y="6077658"/>
                </a:lnTo>
                <a:lnTo>
                  <a:pt x="0" y="6077658"/>
                </a:lnTo>
                <a:lnTo>
                  <a:pt x="0" y="0"/>
                </a:lnTo>
                <a:close/>
              </a:path>
            </a:pathLst>
          </a:custGeom>
          <a:blipFill>
            <a:blip r:embed="rId5"/>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63943"/>
        </a:solidFill>
      </p:bgPr>
    </p:bg>
    <p:spTree>
      <p:nvGrpSpPr>
        <p:cNvPr id="1" name=""/>
        <p:cNvGrpSpPr/>
        <p:nvPr/>
      </p:nvGrpSpPr>
      <p:grpSpPr>
        <a:xfrm>
          <a:off x="0" y="0"/>
          <a:ext cx="0" cy="0"/>
          <a:chOff x="0" y="0"/>
          <a:chExt cx="0" cy="0"/>
        </a:xfrm>
      </p:grpSpPr>
      <p:sp>
        <p:nvSpPr>
          <p:cNvPr name="Freeform 2" id="2"/>
          <p:cNvSpPr/>
          <p:nvPr/>
        </p:nvSpPr>
        <p:spPr>
          <a:xfrm flipH="false" flipV="false" rot="0">
            <a:off x="15150568"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6585197" y="2527807"/>
            <a:ext cx="4592032" cy="3902976"/>
          </a:xfrm>
          <a:custGeom>
            <a:avLst/>
            <a:gdLst/>
            <a:ahLst/>
            <a:cxnLst/>
            <a:rect r="r" b="b" t="t" l="l"/>
            <a:pathLst>
              <a:path h="3902976" w="4592032">
                <a:moveTo>
                  <a:pt x="0" y="0"/>
                </a:moveTo>
                <a:lnTo>
                  <a:pt x="4592032" y="0"/>
                </a:lnTo>
                <a:lnTo>
                  <a:pt x="4592032" y="3902976"/>
                </a:lnTo>
                <a:lnTo>
                  <a:pt x="0" y="3902976"/>
                </a:lnTo>
                <a:lnTo>
                  <a:pt x="0" y="0"/>
                </a:lnTo>
                <a:close/>
              </a:path>
            </a:pathLst>
          </a:custGeom>
          <a:blipFill>
            <a:blip r:embed="rId4"/>
            <a:stretch>
              <a:fillRect l="0" t="0" r="0" b="0"/>
            </a:stretch>
          </a:blipFill>
        </p:spPr>
      </p:sp>
      <p:sp>
        <p:nvSpPr>
          <p:cNvPr name="Freeform 4" id="4"/>
          <p:cNvSpPr/>
          <p:nvPr/>
        </p:nvSpPr>
        <p:spPr>
          <a:xfrm flipH="false" flipV="false" rot="0">
            <a:off x="7652576" y="6716528"/>
            <a:ext cx="7049307" cy="3356813"/>
          </a:xfrm>
          <a:custGeom>
            <a:avLst/>
            <a:gdLst/>
            <a:ahLst/>
            <a:cxnLst/>
            <a:rect r="r" b="b" t="t" l="l"/>
            <a:pathLst>
              <a:path h="3356813" w="7049307">
                <a:moveTo>
                  <a:pt x="0" y="0"/>
                </a:moveTo>
                <a:lnTo>
                  <a:pt x="7049307" y="0"/>
                </a:lnTo>
                <a:lnTo>
                  <a:pt x="7049307" y="3356813"/>
                </a:lnTo>
                <a:lnTo>
                  <a:pt x="0" y="3356813"/>
                </a:lnTo>
                <a:lnTo>
                  <a:pt x="0" y="0"/>
                </a:lnTo>
                <a:close/>
              </a:path>
            </a:pathLst>
          </a:custGeom>
          <a:blipFill>
            <a:blip r:embed="rId5"/>
            <a:stretch>
              <a:fillRect l="0" t="0" r="0" b="0"/>
            </a:stretch>
          </a:blipFill>
        </p:spPr>
      </p:sp>
      <p:sp>
        <p:nvSpPr>
          <p:cNvPr name="Freeform 5" id="5"/>
          <p:cNvSpPr/>
          <p:nvPr/>
        </p:nvSpPr>
        <p:spPr>
          <a:xfrm flipH="false" flipV="false" rot="0">
            <a:off x="284079" y="6716528"/>
            <a:ext cx="7159676" cy="3356813"/>
          </a:xfrm>
          <a:custGeom>
            <a:avLst/>
            <a:gdLst/>
            <a:ahLst/>
            <a:cxnLst/>
            <a:rect r="r" b="b" t="t" l="l"/>
            <a:pathLst>
              <a:path h="3356813" w="7159676">
                <a:moveTo>
                  <a:pt x="0" y="0"/>
                </a:moveTo>
                <a:lnTo>
                  <a:pt x="7159676" y="0"/>
                </a:lnTo>
                <a:lnTo>
                  <a:pt x="7159676" y="3356813"/>
                </a:lnTo>
                <a:lnTo>
                  <a:pt x="0" y="3356813"/>
                </a:lnTo>
                <a:lnTo>
                  <a:pt x="0" y="0"/>
                </a:lnTo>
                <a:close/>
              </a:path>
            </a:pathLst>
          </a:custGeom>
          <a:blipFill>
            <a:blip r:embed="rId6"/>
            <a:stretch>
              <a:fillRect l="0" t="0" r="0" b="0"/>
            </a:stretch>
          </a:blipFill>
        </p:spPr>
      </p:sp>
      <p:sp>
        <p:nvSpPr>
          <p:cNvPr name="Freeform 6" id="6"/>
          <p:cNvSpPr/>
          <p:nvPr/>
        </p:nvSpPr>
        <p:spPr>
          <a:xfrm flipH="false" flipV="false" rot="0">
            <a:off x="12386668" y="369068"/>
            <a:ext cx="5205316" cy="3204289"/>
          </a:xfrm>
          <a:custGeom>
            <a:avLst/>
            <a:gdLst/>
            <a:ahLst/>
            <a:cxnLst/>
            <a:rect r="r" b="b" t="t" l="l"/>
            <a:pathLst>
              <a:path h="3204289" w="5205316">
                <a:moveTo>
                  <a:pt x="0" y="0"/>
                </a:moveTo>
                <a:lnTo>
                  <a:pt x="5205317" y="0"/>
                </a:lnTo>
                <a:lnTo>
                  <a:pt x="5205317" y="3204289"/>
                </a:lnTo>
                <a:lnTo>
                  <a:pt x="0" y="3204289"/>
                </a:lnTo>
                <a:lnTo>
                  <a:pt x="0" y="0"/>
                </a:lnTo>
                <a:close/>
              </a:path>
            </a:pathLst>
          </a:custGeom>
          <a:blipFill>
            <a:blip r:embed="rId7"/>
            <a:stretch>
              <a:fillRect l="0" t="0" r="0" b="0"/>
            </a:stretch>
          </a:blipFill>
        </p:spPr>
      </p:sp>
      <p:sp>
        <p:nvSpPr>
          <p:cNvPr name="Freeform 7" id="7"/>
          <p:cNvSpPr/>
          <p:nvPr/>
        </p:nvSpPr>
        <p:spPr>
          <a:xfrm flipH="false" flipV="false" rot="0">
            <a:off x="12386668" y="3729545"/>
            <a:ext cx="5205316" cy="2827910"/>
          </a:xfrm>
          <a:custGeom>
            <a:avLst/>
            <a:gdLst/>
            <a:ahLst/>
            <a:cxnLst/>
            <a:rect r="r" b="b" t="t" l="l"/>
            <a:pathLst>
              <a:path h="2827910" w="5205316">
                <a:moveTo>
                  <a:pt x="0" y="0"/>
                </a:moveTo>
                <a:lnTo>
                  <a:pt x="5205317" y="0"/>
                </a:lnTo>
                <a:lnTo>
                  <a:pt x="5205317" y="2827910"/>
                </a:lnTo>
                <a:lnTo>
                  <a:pt x="0" y="2827910"/>
                </a:lnTo>
                <a:lnTo>
                  <a:pt x="0" y="0"/>
                </a:lnTo>
                <a:close/>
              </a:path>
            </a:pathLst>
          </a:custGeom>
          <a:blipFill>
            <a:blip r:embed="rId8"/>
            <a:stretch>
              <a:fillRect l="0" t="0" r="0" b="0"/>
            </a:stretch>
          </a:blipFill>
        </p:spPr>
      </p:sp>
      <p:grpSp>
        <p:nvGrpSpPr>
          <p:cNvPr name="Group 8" id="8"/>
          <p:cNvGrpSpPr/>
          <p:nvPr/>
        </p:nvGrpSpPr>
        <p:grpSpPr>
          <a:xfrm rot="0">
            <a:off x="284079" y="369068"/>
            <a:ext cx="8324850" cy="6347460"/>
            <a:chOff x="0" y="0"/>
            <a:chExt cx="11099800" cy="8463280"/>
          </a:xfrm>
        </p:grpSpPr>
        <p:sp>
          <p:nvSpPr>
            <p:cNvPr name="TextBox 9" id="9"/>
            <p:cNvSpPr txBox="true"/>
            <p:nvPr/>
          </p:nvSpPr>
          <p:spPr>
            <a:xfrm rot="0">
              <a:off x="0" y="0"/>
              <a:ext cx="11099800" cy="4229100"/>
            </a:xfrm>
            <a:prstGeom prst="rect">
              <a:avLst/>
            </a:prstGeom>
          </p:spPr>
          <p:txBody>
            <a:bodyPr anchor="t" rtlCol="false" tIns="0" lIns="0" bIns="0" rIns="0">
              <a:spAutoFit/>
            </a:bodyPr>
            <a:lstStyle/>
            <a:p>
              <a:pPr algn="l" marL="0" indent="0" lvl="0">
                <a:lnSpc>
                  <a:spcPts val="8399"/>
                </a:lnSpc>
                <a:spcBef>
                  <a:spcPct val="0"/>
                </a:spcBef>
              </a:pPr>
              <a:r>
                <a:rPr lang="en-US" sz="6999" spc="-139">
                  <a:solidFill>
                    <a:srgbClr val="FBF1F2"/>
                  </a:solidFill>
                  <a:latin typeface="Tenor Sans"/>
                  <a:ea typeface="Tenor Sans"/>
                  <a:cs typeface="Tenor Sans"/>
                  <a:sym typeface="Tenor Sans"/>
                </a:rPr>
                <a:t>Insights from Exploratory Data Analysis</a:t>
              </a:r>
            </a:p>
          </p:txBody>
        </p:sp>
        <p:sp>
          <p:nvSpPr>
            <p:cNvPr name="TextBox 10" id="10"/>
            <p:cNvSpPr txBox="true"/>
            <p:nvPr/>
          </p:nvSpPr>
          <p:spPr>
            <a:xfrm rot="0">
              <a:off x="0" y="4991064"/>
              <a:ext cx="11099800" cy="482600"/>
            </a:xfrm>
            <a:prstGeom prst="rect">
              <a:avLst/>
            </a:prstGeom>
          </p:spPr>
          <p:txBody>
            <a:bodyPr anchor="t" rtlCol="false" tIns="0" lIns="0" bIns="0" rIns="0">
              <a:spAutoFit/>
            </a:bodyPr>
            <a:lstStyle/>
            <a:p>
              <a:pPr algn="l" marL="0" indent="0" lvl="0">
                <a:lnSpc>
                  <a:spcPts val="2879"/>
                </a:lnSpc>
                <a:spcBef>
                  <a:spcPct val="0"/>
                </a:spcBef>
              </a:pPr>
              <a:r>
                <a:rPr lang="en-US" b="true" sz="2400">
                  <a:solidFill>
                    <a:srgbClr val="FBF1F2"/>
                  </a:solidFill>
                  <a:latin typeface="Clear Sans Bold"/>
                  <a:ea typeface="Clear Sans Bold"/>
                  <a:cs typeface="Clear Sans Bold"/>
                  <a:sym typeface="Clear Sans Bold"/>
                </a:rPr>
                <a:t>KEY FINDINGS FROM THE DATASET</a:t>
              </a:r>
            </a:p>
          </p:txBody>
        </p:sp>
        <p:sp>
          <p:nvSpPr>
            <p:cNvPr name="TextBox 11" id="11"/>
            <p:cNvSpPr txBox="true"/>
            <p:nvPr/>
          </p:nvSpPr>
          <p:spPr>
            <a:xfrm rot="0">
              <a:off x="0" y="6010275"/>
              <a:ext cx="11099800" cy="2453005"/>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FBF1F2"/>
                  </a:solidFill>
                  <a:latin typeface="Clear Sans"/>
                  <a:ea typeface="Clear Sans"/>
                  <a:cs typeface="Clear Sans"/>
                  <a:sym typeface="Clear Sans"/>
                </a:rPr>
                <a:t>Identified key trends and patterns</a:t>
              </a:r>
            </a:p>
            <a:p>
              <a:pPr algn="l" marL="453390" indent="-226695" lvl="1">
                <a:lnSpc>
                  <a:spcPts val="2940"/>
                </a:lnSpc>
                <a:buFont typeface="Arial"/>
                <a:buChar char="•"/>
              </a:pPr>
              <a:r>
                <a:rPr lang="en-US" sz="2100">
                  <a:solidFill>
                    <a:srgbClr val="FBF1F2"/>
                  </a:solidFill>
                  <a:latin typeface="Clear Sans"/>
                  <a:ea typeface="Clear Sans"/>
                  <a:cs typeface="Clear Sans"/>
                  <a:sym typeface="Clear Sans"/>
                </a:rPr>
                <a:t>Analyzed correlations between variables</a:t>
              </a:r>
            </a:p>
            <a:p>
              <a:pPr algn="l" marL="453390" indent="-226695" lvl="1">
                <a:lnSpc>
                  <a:spcPts val="2940"/>
                </a:lnSpc>
                <a:buFont typeface="Arial"/>
                <a:buChar char="•"/>
              </a:pPr>
              <a:r>
                <a:rPr lang="en-US" sz="2100">
                  <a:solidFill>
                    <a:srgbClr val="FBF1F2"/>
                  </a:solidFill>
                  <a:latin typeface="Clear Sans"/>
                  <a:ea typeface="Clear Sans"/>
                  <a:cs typeface="Clear Sans"/>
                  <a:sym typeface="Clear Sans"/>
                </a:rPr>
                <a:t>Visualized data using graphs and charts</a:t>
              </a:r>
            </a:p>
            <a:p>
              <a:pPr algn="l" marL="453390" indent="-226695" lvl="1">
                <a:lnSpc>
                  <a:spcPts val="2940"/>
                </a:lnSpc>
                <a:buFont typeface="Arial"/>
                <a:buChar char="•"/>
              </a:pPr>
              <a:r>
                <a:rPr lang="en-US" sz="2100">
                  <a:solidFill>
                    <a:srgbClr val="FBF1F2"/>
                  </a:solidFill>
                  <a:latin typeface="Clear Sans"/>
                  <a:ea typeface="Clear Sans"/>
                  <a:cs typeface="Clear Sans"/>
                  <a:sym typeface="Clear Sans"/>
                </a:rPr>
                <a:t>Highlighted outliers and anomalies present</a:t>
              </a:r>
            </a:p>
            <a:p>
              <a:pPr algn="l" marL="453390" indent="-226695" lvl="1">
                <a:lnSpc>
                  <a:spcPts val="2940"/>
                </a:lnSpc>
                <a:buFont typeface="Arial"/>
                <a:buChar char="•"/>
              </a:pPr>
              <a:r>
                <a:rPr lang="en-US" sz="2100">
                  <a:solidFill>
                    <a:srgbClr val="FBF1F2"/>
                  </a:solidFill>
                  <a:latin typeface="Clear Sans"/>
                  <a:ea typeface="Clear Sans"/>
                  <a:cs typeface="Clear Sans"/>
                  <a:sym typeface="Clear Sans"/>
                </a:rPr>
                <a:t>Summarized statistical findings for clarity</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63943"/>
        </a:solidFill>
      </p:bgPr>
    </p:bg>
    <p:spTree>
      <p:nvGrpSpPr>
        <p:cNvPr id="1" name=""/>
        <p:cNvGrpSpPr/>
        <p:nvPr/>
      </p:nvGrpSpPr>
      <p:grpSpPr>
        <a:xfrm>
          <a:off x="0" y="0"/>
          <a:ext cx="0" cy="0"/>
          <a:chOff x="0" y="0"/>
          <a:chExt cx="0" cy="0"/>
        </a:xfrm>
      </p:grpSpPr>
      <p:sp>
        <p:nvSpPr>
          <p:cNvPr name="Freeform 2" id="2"/>
          <p:cNvSpPr/>
          <p:nvPr/>
        </p:nvSpPr>
        <p:spPr>
          <a:xfrm flipH="false" flipV="false" rot="0">
            <a:off x="10815487" y="310890"/>
            <a:ext cx="6151300" cy="4832610"/>
          </a:xfrm>
          <a:custGeom>
            <a:avLst/>
            <a:gdLst/>
            <a:ahLst/>
            <a:cxnLst/>
            <a:rect r="r" b="b" t="t" l="l"/>
            <a:pathLst>
              <a:path h="4832610" w="6151300">
                <a:moveTo>
                  <a:pt x="0" y="0"/>
                </a:moveTo>
                <a:lnTo>
                  <a:pt x="6151300" y="0"/>
                </a:lnTo>
                <a:lnTo>
                  <a:pt x="6151300" y="4832610"/>
                </a:lnTo>
                <a:lnTo>
                  <a:pt x="0" y="4832610"/>
                </a:lnTo>
                <a:lnTo>
                  <a:pt x="0" y="0"/>
                </a:lnTo>
                <a:close/>
              </a:path>
            </a:pathLst>
          </a:custGeom>
          <a:blipFill>
            <a:blip r:embed="rId2"/>
            <a:stretch>
              <a:fillRect l="0" t="0" r="0" b="0"/>
            </a:stretch>
          </a:blipFill>
        </p:spPr>
      </p:sp>
      <p:sp>
        <p:nvSpPr>
          <p:cNvPr name="Freeform 3" id="3"/>
          <p:cNvSpPr/>
          <p:nvPr/>
        </p:nvSpPr>
        <p:spPr>
          <a:xfrm flipH="false" flipV="false" rot="0">
            <a:off x="11378238" y="5341168"/>
            <a:ext cx="6165960" cy="4784600"/>
          </a:xfrm>
          <a:custGeom>
            <a:avLst/>
            <a:gdLst/>
            <a:ahLst/>
            <a:cxnLst/>
            <a:rect r="r" b="b" t="t" l="l"/>
            <a:pathLst>
              <a:path h="4784600" w="6165960">
                <a:moveTo>
                  <a:pt x="0" y="0"/>
                </a:moveTo>
                <a:lnTo>
                  <a:pt x="6165960" y="0"/>
                </a:lnTo>
                <a:lnTo>
                  <a:pt x="6165960" y="4784600"/>
                </a:lnTo>
                <a:lnTo>
                  <a:pt x="0" y="4784600"/>
                </a:lnTo>
                <a:lnTo>
                  <a:pt x="0" y="0"/>
                </a:lnTo>
                <a:close/>
              </a:path>
            </a:pathLst>
          </a:custGeom>
          <a:blipFill>
            <a:blip r:embed="rId3"/>
            <a:stretch>
              <a:fillRect l="0" t="0" r="0" b="0"/>
            </a:stretch>
          </a:blipFill>
        </p:spPr>
      </p:sp>
      <p:sp>
        <p:nvSpPr>
          <p:cNvPr name="TextBox 4" id="4"/>
          <p:cNvSpPr txBox="true"/>
          <p:nvPr/>
        </p:nvSpPr>
        <p:spPr>
          <a:xfrm rot="0">
            <a:off x="666750" y="5284018"/>
            <a:ext cx="9763125" cy="2957830"/>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FBF1F2"/>
                </a:solidFill>
                <a:latin typeface="Clear Sans"/>
                <a:ea typeface="Clear Sans"/>
                <a:cs typeface="Clear Sans"/>
                <a:sym typeface="Clear Sans"/>
              </a:rPr>
              <a:t>The best predictive model is the **Base Decision Tree** (or any perfect-scoring model with base features). The Decision Tree is preferred because it achieves 100% accuracy and provides the simplest, most transparent decision rule (a single split), offering maximum interpretability without sacrificing performance.</a:t>
            </a:r>
          </a:p>
        </p:txBody>
      </p:sp>
      <p:sp>
        <p:nvSpPr>
          <p:cNvPr name="TextBox 5" id="5"/>
          <p:cNvSpPr txBox="true"/>
          <p:nvPr/>
        </p:nvSpPr>
        <p:spPr>
          <a:xfrm rot="0">
            <a:off x="666750" y="1562100"/>
            <a:ext cx="9763125" cy="3167843"/>
          </a:xfrm>
          <a:prstGeom prst="rect">
            <a:avLst/>
          </a:prstGeom>
        </p:spPr>
        <p:txBody>
          <a:bodyPr anchor="t" rtlCol="false" tIns="0" lIns="0" bIns="0" rIns="0">
            <a:spAutoFit/>
          </a:bodyPr>
          <a:lstStyle/>
          <a:p>
            <a:pPr algn="l" marL="0" indent="0" lvl="0">
              <a:lnSpc>
                <a:spcPts val="8399"/>
              </a:lnSpc>
            </a:pPr>
            <a:r>
              <a:rPr lang="en-US" sz="6999" spc="-139">
                <a:solidFill>
                  <a:srgbClr val="FBF1F2"/>
                </a:solidFill>
                <a:latin typeface="Tenor Sans"/>
                <a:ea typeface="Tenor Sans"/>
                <a:cs typeface="Tenor Sans"/>
                <a:sym typeface="Tenor Sans"/>
              </a:rPr>
              <a:t>Machine Learning Model 1: K-Means Clustering</a:t>
            </a:r>
            <a:r>
              <a:rPr lang="en-US" sz="6999" spc="-139">
                <a:solidFill>
                  <a:srgbClr val="FBF1F2"/>
                </a:solidFill>
                <a:latin typeface="Tenor Sans"/>
                <a:ea typeface="Tenor Sans"/>
                <a:cs typeface="Tenor Sans"/>
                <a:sym typeface="Tenor Sans"/>
              </a:rPr>
              <a:t>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63943"/>
        </a:solidFill>
      </p:bgPr>
    </p:bg>
    <p:spTree>
      <p:nvGrpSpPr>
        <p:cNvPr id="1" name=""/>
        <p:cNvGrpSpPr/>
        <p:nvPr/>
      </p:nvGrpSpPr>
      <p:grpSpPr>
        <a:xfrm>
          <a:off x="0" y="0"/>
          <a:ext cx="0" cy="0"/>
          <a:chOff x="0" y="0"/>
          <a:chExt cx="0" cy="0"/>
        </a:xfrm>
      </p:grpSpPr>
      <p:sp>
        <p:nvSpPr>
          <p:cNvPr name="Freeform 2" id="2"/>
          <p:cNvSpPr/>
          <p:nvPr/>
        </p:nvSpPr>
        <p:spPr>
          <a:xfrm flipH="false" flipV="false" rot="0">
            <a:off x="10223613" y="590390"/>
            <a:ext cx="4913923" cy="4553110"/>
          </a:xfrm>
          <a:custGeom>
            <a:avLst/>
            <a:gdLst/>
            <a:ahLst/>
            <a:cxnLst/>
            <a:rect r="r" b="b" t="t" l="l"/>
            <a:pathLst>
              <a:path h="4553110" w="4913923">
                <a:moveTo>
                  <a:pt x="0" y="0"/>
                </a:moveTo>
                <a:lnTo>
                  <a:pt x="4913923" y="0"/>
                </a:lnTo>
                <a:lnTo>
                  <a:pt x="4913923" y="4553110"/>
                </a:lnTo>
                <a:lnTo>
                  <a:pt x="0" y="4553110"/>
                </a:lnTo>
                <a:lnTo>
                  <a:pt x="0" y="0"/>
                </a:lnTo>
                <a:close/>
              </a:path>
            </a:pathLst>
          </a:custGeom>
          <a:blipFill>
            <a:blip r:embed="rId2"/>
            <a:stretch>
              <a:fillRect l="0" t="0" r="0" b="0"/>
            </a:stretch>
          </a:blipFill>
        </p:spPr>
      </p:sp>
      <p:sp>
        <p:nvSpPr>
          <p:cNvPr name="Freeform 3" id="3"/>
          <p:cNvSpPr/>
          <p:nvPr/>
        </p:nvSpPr>
        <p:spPr>
          <a:xfrm flipH="false" flipV="false" rot="0">
            <a:off x="11664256" y="5368600"/>
            <a:ext cx="4913923" cy="4602477"/>
          </a:xfrm>
          <a:custGeom>
            <a:avLst/>
            <a:gdLst/>
            <a:ahLst/>
            <a:cxnLst/>
            <a:rect r="r" b="b" t="t" l="l"/>
            <a:pathLst>
              <a:path h="4602477" w="4913923">
                <a:moveTo>
                  <a:pt x="0" y="0"/>
                </a:moveTo>
                <a:lnTo>
                  <a:pt x="4913922" y="0"/>
                </a:lnTo>
                <a:lnTo>
                  <a:pt x="4913922" y="4602477"/>
                </a:lnTo>
                <a:lnTo>
                  <a:pt x="0" y="4602477"/>
                </a:lnTo>
                <a:lnTo>
                  <a:pt x="0" y="0"/>
                </a:lnTo>
                <a:close/>
              </a:path>
            </a:pathLst>
          </a:custGeom>
          <a:blipFill>
            <a:blip r:embed="rId3"/>
            <a:stretch>
              <a:fillRect l="0" t="0" r="0" b="0"/>
            </a:stretch>
          </a:blipFill>
        </p:spPr>
      </p:sp>
      <p:sp>
        <p:nvSpPr>
          <p:cNvPr name="TextBox 4" id="4"/>
          <p:cNvSpPr txBox="true"/>
          <p:nvPr/>
        </p:nvSpPr>
        <p:spPr>
          <a:xfrm rot="0">
            <a:off x="666750" y="4370631"/>
            <a:ext cx="9763125" cy="4265295"/>
          </a:xfrm>
          <a:prstGeom prst="rect">
            <a:avLst/>
          </a:prstGeom>
        </p:spPr>
        <p:txBody>
          <a:bodyPr anchor="t" rtlCol="false" tIns="0" lIns="0" bIns="0" rIns="0">
            <a:spAutoFit/>
          </a:bodyPr>
          <a:lstStyle/>
          <a:p>
            <a:pPr algn="l">
              <a:lnSpc>
                <a:spcPts val="3779"/>
              </a:lnSpc>
            </a:pPr>
            <a:r>
              <a:rPr lang="en-US" sz="2699" b="true">
                <a:solidFill>
                  <a:srgbClr val="FBF1F2"/>
                </a:solidFill>
                <a:latin typeface="Clear Sans Bold"/>
                <a:ea typeface="Clear Sans Bold"/>
                <a:cs typeface="Clear Sans Bold"/>
                <a:sym typeface="Clear Sans Bold"/>
              </a:rPr>
              <a:t>Naive Bayes Base Accuracy: 1.0</a:t>
            </a:r>
          </a:p>
          <a:p>
            <a:pPr algn="l">
              <a:lnSpc>
                <a:spcPts val="3779"/>
              </a:lnSpc>
            </a:pPr>
            <a:r>
              <a:rPr lang="en-US" sz="2699" b="true">
                <a:solidFill>
                  <a:srgbClr val="FBF1F2"/>
                </a:solidFill>
                <a:latin typeface="Clear Sans Bold"/>
                <a:ea typeface="Clear Sans Bold"/>
                <a:cs typeface="Clear Sans Bold"/>
                <a:sym typeface="Clear Sans Bold"/>
              </a:rPr>
              <a:t>Naive Bayes Seasonality Accuracy: 1.0</a:t>
            </a:r>
          </a:p>
          <a:p>
            <a:pPr algn="l">
              <a:lnSpc>
                <a:spcPts val="3779"/>
              </a:lnSpc>
            </a:pPr>
          </a:p>
          <a:p>
            <a:pPr algn="l" marL="0" indent="0" lvl="0">
              <a:lnSpc>
                <a:spcPts val="3779"/>
              </a:lnSpc>
              <a:spcBef>
                <a:spcPct val="0"/>
              </a:spcBef>
            </a:pPr>
            <a:r>
              <a:rPr lang="en-US" b="true" sz="2699">
                <a:solidFill>
                  <a:srgbClr val="FBF1F2"/>
                </a:solidFill>
                <a:latin typeface="Clear Sans Bold"/>
                <a:ea typeface="Clear Sans Bold"/>
                <a:cs typeface="Clear Sans Bold"/>
                <a:sym typeface="Clear Sans Bold"/>
              </a:rPr>
              <a:t>Overall Conclusion The Naive Bayes model is an ideal classifier for this problem, achieving 100% accuracy in distinguishing between the two classes. Given the perfect result, the simpler Base NB model is the most efficient choice, as the added complexity of seasonality features provides no benefit.</a:t>
            </a:r>
          </a:p>
        </p:txBody>
      </p:sp>
      <p:sp>
        <p:nvSpPr>
          <p:cNvPr name="TextBox 5" id="5"/>
          <p:cNvSpPr txBox="true"/>
          <p:nvPr/>
        </p:nvSpPr>
        <p:spPr>
          <a:xfrm rot="0">
            <a:off x="666750" y="1562100"/>
            <a:ext cx="9763125" cy="2111895"/>
          </a:xfrm>
          <a:prstGeom prst="rect">
            <a:avLst/>
          </a:prstGeom>
        </p:spPr>
        <p:txBody>
          <a:bodyPr anchor="t" rtlCol="false" tIns="0" lIns="0" bIns="0" rIns="0">
            <a:spAutoFit/>
          </a:bodyPr>
          <a:lstStyle/>
          <a:p>
            <a:pPr algn="l" marL="0" indent="0" lvl="0">
              <a:lnSpc>
                <a:spcPts val="8399"/>
              </a:lnSpc>
            </a:pPr>
            <a:r>
              <a:rPr lang="en-US" sz="6999" spc="-139">
                <a:solidFill>
                  <a:srgbClr val="FBF1F2"/>
                </a:solidFill>
                <a:latin typeface="Tenor Sans"/>
                <a:ea typeface="Tenor Sans"/>
                <a:cs typeface="Tenor Sans"/>
                <a:sym typeface="Tenor Sans"/>
              </a:rPr>
              <a:t>Machine Learning Model 2: Naive Bayes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63943"/>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233017"/>
            <a:ext cx="5710083" cy="4910483"/>
          </a:xfrm>
          <a:custGeom>
            <a:avLst/>
            <a:gdLst/>
            <a:ahLst/>
            <a:cxnLst/>
            <a:rect r="r" b="b" t="t" l="l"/>
            <a:pathLst>
              <a:path h="4910483" w="5710083">
                <a:moveTo>
                  <a:pt x="0" y="0"/>
                </a:moveTo>
                <a:lnTo>
                  <a:pt x="5710083" y="0"/>
                </a:lnTo>
                <a:lnTo>
                  <a:pt x="5710083" y="4910483"/>
                </a:lnTo>
                <a:lnTo>
                  <a:pt x="0" y="4910483"/>
                </a:lnTo>
                <a:lnTo>
                  <a:pt x="0" y="0"/>
                </a:lnTo>
                <a:close/>
              </a:path>
            </a:pathLst>
          </a:custGeom>
          <a:blipFill>
            <a:blip r:embed="rId2"/>
            <a:stretch>
              <a:fillRect l="0" t="0" r="0" b="0"/>
            </a:stretch>
          </a:blipFill>
        </p:spPr>
      </p:sp>
      <p:sp>
        <p:nvSpPr>
          <p:cNvPr name="Freeform 3" id="3"/>
          <p:cNvSpPr/>
          <p:nvPr/>
        </p:nvSpPr>
        <p:spPr>
          <a:xfrm flipH="false" flipV="false" rot="0">
            <a:off x="11933942" y="5318658"/>
            <a:ext cx="5710083" cy="4795006"/>
          </a:xfrm>
          <a:custGeom>
            <a:avLst/>
            <a:gdLst/>
            <a:ahLst/>
            <a:cxnLst/>
            <a:rect r="r" b="b" t="t" l="l"/>
            <a:pathLst>
              <a:path h="4795006" w="5710083">
                <a:moveTo>
                  <a:pt x="0" y="0"/>
                </a:moveTo>
                <a:lnTo>
                  <a:pt x="5710083" y="0"/>
                </a:lnTo>
                <a:lnTo>
                  <a:pt x="5710083" y="4795005"/>
                </a:lnTo>
                <a:lnTo>
                  <a:pt x="0" y="4795005"/>
                </a:lnTo>
                <a:lnTo>
                  <a:pt x="0" y="0"/>
                </a:lnTo>
                <a:close/>
              </a:path>
            </a:pathLst>
          </a:custGeom>
          <a:blipFill>
            <a:blip r:embed="rId3"/>
            <a:stretch>
              <a:fillRect l="0" t="0" r="0" b="0"/>
            </a:stretch>
          </a:blipFill>
        </p:spPr>
      </p:sp>
      <p:sp>
        <p:nvSpPr>
          <p:cNvPr name="TextBox 4" id="4"/>
          <p:cNvSpPr txBox="true"/>
          <p:nvPr/>
        </p:nvSpPr>
        <p:spPr>
          <a:xfrm rot="0">
            <a:off x="666750" y="5271033"/>
            <a:ext cx="9763125" cy="4096385"/>
          </a:xfrm>
          <a:prstGeom prst="rect">
            <a:avLst/>
          </a:prstGeom>
        </p:spPr>
        <p:txBody>
          <a:bodyPr anchor="t" rtlCol="false" tIns="0" lIns="0" bIns="0" rIns="0">
            <a:spAutoFit/>
          </a:bodyPr>
          <a:lstStyle/>
          <a:p>
            <a:pPr algn="l" marL="0" indent="0" lvl="0">
              <a:lnSpc>
                <a:spcPts val="3639"/>
              </a:lnSpc>
              <a:spcBef>
                <a:spcPct val="0"/>
              </a:spcBef>
            </a:pPr>
            <a:r>
              <a:rPr lang="en-US" b="true" sz="2599">
                <a:solidFill>
                  <a:srgbClr val="FBF1F2"/>
                </a:solidFill>
                <a:latin typeface="Clear Sans Bold"/>
                <a:ea typeface="Clear Sans Bold"/>
                <a:cs typeface="Clear Sans Bold"/>
                <a:sym typeface="Clear Sans Bold"/>
              </a:rPr>
              <a:t>SVM</a:t>
            </a:r>
            <a:r>
              <a:rPr lang="en-US" b="true" sz="2599">
                <a:solidFill>
                  <a:srgbClr val="FBF1F2"/>
                </a:solidFill>
                <a:latin typeface="Clear Sans Bold"/>
                <a:ea typeface="Clear Sans Bold"/>
                <a:cs typeface="Clear Sans Bold"/>
                <a:sym typeface="Clear Sans Bold"/>
              </a:rPr>
              <a:t> Base Model Accuracy: 0.648</a:t>
            </a:r>
          </a:p>
          <a:p>
            <a:pPr algn="l" marL="0" indent="0" lvl="0">
              <a:lnSpc>
                <a:spcPts val="3639"/>
              </a:lnSpc>
              <a:spcBef>
                <a:spcPct val="0"/>
              </a:spcBef>
            </a:pPr>
            <a:r>
              <a:rPr lang="en-US" b="true" sz="2599">
                <a:solidFill>
                  <a:srgbClr val="FBF1F2"/>
                </a:solidFill>
                <a:latin typeface="Clear Sans Bold"/>
                <a:ea typeface="Clear Sans Bold"/>
                <a:cs typeface="Clear Sans Bold"/>
                <a:sym typeface="Clear Sans Bold"/>
              </a:rPr>
              <a:t>SVM Seasonality Model Accuracy: 0.629</a:t>
            </a:r>
          </a:p>
          <a:p>
            <a:pPr algn="l" marL="0" indent="0" lvl="0">
              <a:lnSpc>
                <a:spcPts val="3639"/>
              </a:lnSpc>
              <a:spcBef>
                <a:spcPct val="0"/>
              </a:spcBef>
            </a:pPr>
          </a:p>
          <a:p>
            <a:pPr algn="l" marL="0" indent="0" lvl="0">
              <a:lnSpc>
                <a:spcPts val="3639"/>
              </a:lnSpc>
              <a:spcBef>
                <a:spcPct val="0"/>
              </a:spcBef>
            </a:pPr>
            <a:r>
              <a:rPr lang="en-US" b="true" sz="2599">
                <a:solidFill>
                  <a:srgbClr val="FBF1F2"/>
                </a:solidFill>
                <a:latin typeface="Clear Sans Bold"/>
                <a:ea typeface="Clear Sans Bold"/>
                <a:cs typeface="Clear Sans Bold"/>
                <a:sym typeface="Clear Sans Bold"/>
              </a:rPr>
              <a:t>Summary The SVM model is a poor classifier compared to the others tested (Logistic Regression, Naive Bayes), suggesting that the data is not easily separable by a fixed linear or polynomial boundary. Furthermore, the Base SVM is superior, confirming that the seasonality features are **detrimental to the SVM’s performance**.</a:t>
            </a:r>
          </a:p>
        </p:txBody>
      </p:sp>
      <p:sp>
        <p:nvSpPr>
          <p:cNvPr name="TextBox 5" id="5"/>
          <p:cNvSpPr txBox="true"/>
          <p:nvPr/>
        </p:nvSpPr>
        <p:spPr>
          <a:xfrm rot="0">
            <a:off x="666750" y="1562100"/>
            <a:ext cx="9763125" cy="3167843"/>
          </a:xfrm>
          <a:prstGeom prst="rect">
            <a:avLst/>
          </a:prstGeom>
        </p:spPr>
        <p:txBody>
          <a:bodyPr anchor="t" rtlCol="false" tIns="0" lIns="0" bIns="0" rIns="0">
            <a:spAutoFit/>
          </a:bodyPr>
          <a:lstStyle/>
          <a:p>
            <a:pPr algn="l" marL="0" indent="0" lvl="0">
              <a:lnSpc>
                <a:spcPts val="8399"/>
              </a:lnSpc>
            </a:pPr>
            <a:r>
              <a:rPr lang="en-US" sz="6999" spc="-139">
                <a:solidFill>
                  <a:srgbClr val="FBF1F2"/>
                </a:solidFill>
                <a:latin typeface="Tenor Sans"/>
                <a:ea typeface="Tenor Sans"/>
                <a:cs typeface="Tenor Sans"/>
                <a:sym typeface="Tenor Sans"/>
              </a:rPr>
              <a:t>Machine Learning Model 3: Support Vector Machine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63943"/>
        </a:solidFill>
      </p:bgPr>
    </p:bg>
    <p:spTree>
      <p:nvGrpSpPr>
        <p:cNvPr id="1" name=""/>
        <p:cNvGrpSpPr/>
        <p:nvPr/>
      </p:nvGrpSpPr>
      <p:grpSpPr>
        <a:xfrm>
          <a:off x="0" y="0"/>
          <a:ext cx="0" cy="0"/>
          <a:chOff x="0" y="0"/>
          <a:chExt cx="0" cy="0"/>
        </a:xfrm>
      </p:grpSpPr>
      <p:sp>
        <p:nvSpPr>
          <p:cNvPr name="Freeform 2" id="2"/>
          <p:cNvSpPr/>
          <p:nvPr/>
        </p:nvSpPr>
        <p:spPr>
          <a:xfrm flipH="false" flipV="false" rot="0">
            <a:off x="12360092" y="5414308"/>
            <a:ext cx="5156983" cy="4663323"/>
          </a:xfrm>
          <a:custGeom>
            <a:avLst/>
            <a:gdLst/>
            <a:ahLst/>
            <a:cxnLst/>
            <a:rect r="r" b="b" t="t" l="l"/>
            <a:pathLst>
              <a:path h="4663323" w="5156983">
                <a:moveTo>
                  <a:pt x="0" y="0"/>
                </a:moveTo>
                <a:lnTo>
                  <a:pt x="5156983" y="0"/>
                </a:lnTo>
                <a:lnTo>
                  <a:pt x="5156983" y="4663323"/>
                </a:lnTo>
                <a:lnTo>
                  <a:pt x="0" y="4663323"/>
                </a:lnTo>
                <a:lnTo>
                  <a:pt x="0" y="0"/>
                </a:lnTo>
                <a:close/>
              </a:path>
            </a:pathLst>
          </a:custGeom>
          <a:blipFill>
            <a:blip r:embed="rId2"/>
            <a:stretch>
              <a:fillRect l="0" t="0" r="0" b="0"/>
            </a:stretch>
          </a:blipFill>
        </p:spPr>
      </p:sp>
      <p:sp>
        <p:nvSpPr>
          <p:cNvPr name="Freeform 3" id="3"/>
          <p:cNvSpPr/>
          <p:nvPr/>
        </p:nvSpPr>
        <p:spPr>
          <a:xfrm flipH="false" flipV="false" rot="0">
            <a:off x="9261352" y="346744"/>
            <a:ext cx="5605300" cy="4796756"/>
          </a:xfrm>
          <a:custGeom>
            <a:avLst/>
            <a:gdLst/>
            <a:ahLst/>
            <a:cxnLst/>
            <a:rect r="r" b="b" t="t" l="l"/>
            <a:pathLst>
              <a:path h="4796756" w="5605300">
                <a:moveTo>
                  <a:pt x="0" y="0"/>
                </a:moveTo>
                <a:lnTo>
                  <a:pt x="5605300" y="0"/>
                </a:lnTo>
                <a:lnTo>
                  <a:pt x="5605300" y="4796756"/>
                </a:lnTo>
                <a:lnTo>
                  <a:pt x="0" y="4796756"/>
                </a:lnTo>
                <a:lnTo>
                  <a:pt x="0" y="0"/>
                </a:lnTo>
                <a:close/>
              </a:path>
            </a:pathLst>
          </a:custGeom>
          <a:blipFill>
            <a:blip r:embed="rId3"/>
            <a:stretch>
              <a:fillRect l="0" t="0" r="0" b="0"/>
            </a:stretch>
          </a:blipFill>
        </p:spPr>
      </p:sp>
      <p:sp>
        <p:nvSpPr>
          <p:cNvPr name="TextBox 4" id="4"/>
          <p:cNvSpPr txBox="true"/>
          <p:nvPr/>
        </p:nvSpPr>
        <p:spPr>
          <a:xfrm rot="0">
            <a:off x="666750" y="5271033"/>
            <a:ext cx="9763125" cy="436562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FBF1F2"/>
                </a:solidFill>
                <a:latin typeface="Clear Sans Bold"/>
                <a:ea typeface="Clear Sans Bold"/>
                <a:cs typeface="Clear Sans Bold"/>
                <a:sym typeface="Clear Sans Bold"/>
              </a:rPr>
              <a:t>Log</a:t>
            </a:r>
            <a:r>
              <a:rPr lang="en-US" b="true" sz="2499">
                <a:solidFill>
                  <a:srgbClr val="FBF1F2"/>
                </a:solidFill>
                <a:latin typeface="Clear Sans Bold"/>
                <a:ea typeface="Clear Sans Bold"/>
                <a:cs typeface="Clear Sans Bold"/>
                <a:sym typeface="Clear Sans Bold"/>
              </a:rPr>
              <a:t>istic Regression Base Accuracy: 1.0</a:t>
            </a:r>
          </a:p>
          <a:p>
            <a:pPr algn="l" marL="0" indent="0" lvl="0">
              <a:lnSpc>
                <a:spcPts val="3499"/>
              </a:lnSpc>
              <a:spcBef>
                <a:spcPct val="0"/>
              </a:spcBef>
            </a:pPr>
            <a:r>
              <a:rPr lang="en-US" b="true" sz="2499">
                <a:solidFill>
                  <a:srgbClr val="FBF1F2"/>
                </a:solidFill>
                <a:latin typeface="Clear Sans Bold"/>
                <a:ea typeface="Clear Sans Bold"/>
                <a:cs typeface="Clear Sans Bold"/>
                <a:sym typeface="Clear Sans Bold"/>
              </a:rPr>
              <a:t>Logistic Regression Seasonality Accuracy: 1.0</a:t>
            </a:r>
          </a:p>
          <a:p>
            <a:pPr algn="l" marL="0" indent="0" lvl="0">
              <a:lnSpc>
                <a:spcPts val="3499"/>
              </a:lnSpc>
              <a:spcBef>
                <a:spcPct val="0"/>
              </a:spcBef>
            </a:pPr>
          </a:p>
          <a:p>
            <a:pPr algn="l" marL="0" indent="0" lvl="0">
              <a:lnSpc>
                <a:spcPts val="3499"/>
              </a:lnSpc>
              <a:spcBef>
                <a:spcPct val="0"/>
              </a:spcBef>
            </a:pPr>
            <a:r>
              <a:rPr lang="en-US" b="true" sz="2499">
                <a:solidFill>
                  <a:srgbClr val="FBF1F2"/>
                </a:solidFill>
                <a:latin typeface="Clear Sans Bold"/>
                <a:ea typeface="Clear Sans Bold"/>
                <a:cs typeface="Clear Sans Bold"/>
                <a:sym typeface="Clear Sans Bold"/>
              </a:rPr>
              <a:t>Overall Conclusion Logistic Regression is an ideal classifier for this problem, achieving 100% accuracy. Similar to the Naive Bayes results, this performance suggests that the underlying relationship between the input features and the target class is simple and highly distinct. The Base LR model is the most parsimonious choice due to its perfect performance with fewer features.</a:t>
            </a:r>
          </a:p>
        </p:txBody>
      </p:sp>
      <p:sp>
        <p:nvSpPr>
          <p:cNvPr name="TextBox 5" id="5"/>
          <p:cNvSpPr txBox="true"/>
          <p:nvPr/>
        </p:nvSpPr>
        <p:spPr>
          <a:xfrm rot="0">
            <a:off x="666750" y="1562100"/>
            <a:ext cx="9763125" cy="3167843"/>
          </a:xfrm>
          <a:prstGeom prst="rect">
            <a:avLst/>
          </a:prstGeom>
        </p:spPr>
        <p:txBody>
          <a:bodyPr anchor="t" rtlCol="false" tIns="0" lIns="0" bIns="0" rIns="0">
            <a:spAutoFit/>
          </a:bodyPr>
          <a:lstStyle/>
          <a:p>
            <a:pPr algn="l" marL="0" indent="0" lvl="0">
              <a:lnSpc>
                <a:spcPts val="8399"/>
              </a:lnSpc>
            </a:pPr>
            <a:r>
              <a:rPr lang="en-US" sz="6999" spc="-139">
                <a:solidFill>
                  <a:srgbClr val="FBF1F2"/>
                </a:solidFill>
                <a:latin typeface="Tenor Sans"/>
                <a:ea typeface="Tenor Sans"/>
                <a:cs typeface="Tenor Sans"/>
                <a:sym typeface="Tenor Sans"/>
              </a:rPr>
              <a:t>Machine Learning Model 4:  Logistic Regression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63943"/>
        </a:solidFill>
      </p:bgPr>
    </p:bg>
    <p:spTree>
      <p:nvGrpSpPr>
        <p:cNvPr id="1" name=""/>
        <p:cNvGrpSpPr/>
        <p:nvPr/>
      </p:nvGrpSpPr>
      <p:grpSpPr>
        <a:xfrm>
          <a:off x="0" y="0"/>
          <a:ext cx="0" cy="0"/>
          <a:chOff x="0" y="0"/>
          <a:chExt cx="0" cy="0"/>
        </a:xfrm>
      </p:grpSpPr>
      <p:sp>
        <p:nvSpPr>
          <p:cNvPr name="Freeform 2" id="2"/>
          <p:cNvSpPr/>
          <p:nvPr/>
        </p:nvSpPr>
        <p:spPr>
          <a:xfrm flipH="false" flipV="false" rot="0">
            <a:off x="8567593" y="263862"/>
            <a:ext cx="6246573" cy="4879638"/>
          </a:xfrm>
          <a:custGeom>
            <a:avLst/>
            <a:gdLst/>
            <a:ahLst/>
            <a:cxnLst/>
            <a:rect r="r" b="b" t="t" l="l"/>
            <a:pathLst>
              <a:path h="4879638" w="6246573">
                <a:moveTo>
                  <a:pt x="0" y="0"/>
                </a:moveTo>
                <a:lnTo>
                  <a:pt x="6246572" y="0"/>
                </a:lnTo>
                <a:lnTo>
                  <a:pt x="6246572" y="4879638"/>
                </a:lnTo>
                <a:lnTo>
                  <a:pt x="0" y="4879638"/>
                </a:lnTo>
                <a:lnTo>
                  <a:pt x="0" y="0"/>
                </a:lnTo>
                <a:close/>
              </a:path>
            </a:pathLst>
          </a:custGeom>
          <a:blipFill>
            <a:blip r:embed="rId2"/>
            <a:stretch>
              <a:fillRect l="0" t="0" r="0" b="0"/>
            </a:stretch>
          </a:blipFill>
        </p:spPr>
      </p:sp>
      <p:sp>
        <p:nvSpPr>
          <p:cNvPr name="Freeform 3" id="3"/>
          <p:cNvSpPr/>
          <p:nvPr/>
        </p:nvSpPr>
        <p:spPr>
          <a:xfrm flipH="false" flipV="false" rot="0">
            <a:off x="11376178" y="5443854"/>
            <a:ext cx="5883122" cy="4527770"/>
          </a:xfrm>
          <a:custGeom>
            <a:avLst/>
            <a:gdLst/>
            <a:ahLst/>
            <a:cxnLst/>
            <a:rect r="r" b="b" t="t" l="l"/>
            <a:pathLst>
              <a:path h="4527770" w="5883122">
                <a:moveTo>
                  <a:pt x="0" y="0"/>
                </a:moveTo>
                <a:lnTo>
                  <a:pt x="5883122" y="0"/>
                </a:lnTo>
                <a:lnTo>
                  <a:pt x="5883122" y="4527770"/>
                </a:lnTo>
                <a:lnTo>
                  <a:pt x="0" y="4527770"/>
                </a:lnTo>
                <a:lnTo>
                  <a:pt x="0" y="0"/>
                </a:lnTo>
                <a:close/>
              </a:path>
            </a:pathLst>
          </a:custGeom>
          <a:blipFill>
            <a:blip r:embed="rId3"/>
            <a:stretch>
              <a:fillRect l="0" t="0" r="0" b="0"/>
            </a:stretch>
          </a:blipFill>
        </p:spPr>
      </p:sp>
      <p:sp>
        <p:nvSpPr>
          <p:cNvPr name="TextBox 4" id="4"/>
          <p:cNvSpPr txBox="true"/>
          <p:nvPr/>
        </p:nvSpPr>
        <p:spPr>
          <a:xfrm rot="0">
            <a:off x="666750" y="5095875"/>
            <a:ext cx="9763125" cy="4596765"/>
          </a:xfrm>
          <a:prstGeom prst="rect">
            <a:avLst/>
          </a:prstGeom>
        </p:spPr>
        <p:txBody>
          <a:bodyPr anchor="t" rtlCol="false" tIns="0" lIns="0" bIns="0" rIns="0">
            <a:spAutoFit/>
          </a:bodyPr>
          <a:lstStyle/>
          <a:p>
            <a:pPr algn="l" marL="0" indent="0" lvl="0">
              <a:lnSpc>
                <a:spcPts val="3359"/>
              </a:lnSpc>
              <a:spcBef>
                <a:spcPct val="0"/>
              </a:spcBef>
            </a:pPr>
            <a:r>
              <a:rPr lang="en-US" b="true" sz="2399">
                <a:solidFill>
                  <a:srgbClr val="FBF1F2"/>
                </a:solidFill>
                <a:latin typeface="Clear Sans Bold"/>
                <a:ea typeface="Clear Sans Bold"/>
                <a:cs typeface="Clear Sans Bold"/>
                <a:sym typeface="Clear Sans Bold"/>
              </a:rPr>
              <a:t>L</a:t>
            </a:r>
            <a:r>
              <a:rPr lang="en-US" b="true" sz="2399">
                <a:solidFill>
                  <a:srgbClr val="FBF1F2"/>
                </a:solidFill>
                <a:latin typeface="Clear Sans Bold"/>
                <a:ea typeface="Clear Sans Bold"/>
                <a:cs typeface="Clear Sans Bold"/>
                <a:sym typeface="Clear Sans Bold"/>
              </a:rPr>
              <a:t>inear Regression Base RMSE: 0.0</a:t>
            </a:r>
          </a:p>
          <a:p>
            <a:pPr algn="l" marL="0" indent="0" lvl="0">
              <a:lnSpc>
                <a:spcPts val="3359"/>
              </a:lnSpc>
              <a:spcBef>
                <a:spcPct val="0"/>
              </a:spcBef>
            </a:pPr>
            <a:r>
              <a:rPr lang="en-US" b="true" sz="2399">
                <a:solidFill>
                  <a:srgbClr val="FBF1F2"/>
                </a:solidFill>
                <a:latin typeface="Clear Sans Bold"/>
                <a:ea typeface="Clear Sans Bold"/>
                <a:cs typeface="Clear Sans Bold"/>
                <a:sym typeface="Clear Sans Bold"/>
              </a:rPr>
              <a:t>Linear Regression Base R²: 1.0</a:t>
            </a:r>
          </a:p>
          <a:p>
            <a:pPr algn="l" marL="0" indent="0" lvl="0">
              <a:lnSpc>
                <a:spcPts val="3359"/>
              </a:lnSpc>
              <a:spcBef>
                <a:spcPct val="0"/>
              </a:spcBef>
            </a:pPr>
            <a:r>
              <a:rPr lang="en-US" b="true" sz="2399">
                <a:solidFill>
                  <a:srgbClr val="FBF1F2"/>
                </a:solidFill>
                <a:latin typeface="Clear Sans Bold"/>
                <a:ea typeface="Clear Sans Bold"/>
                <a:cs typeface="Clear Sans Bold"/>
                <a:sym typeface="Clear Sans Bold"/>
              </a:rPr>
              <a:t>Linear Regression Seasonality RMSE: 0.0</a:t>
            </a:r>
          </a:p>
          <a:p>
            <a:pPr algn="l" marL="0" indent="0" lvl="0">
              <a:lnSpc>
                <a:spcPts val="3359"/>
              </a:lnSpc>
              <a:spcBef>
                <a:spcPct val="0"/>
              </a:spcBef>
            </a:pPr>
            <a:r>
              <a:rPr lang="en-US" b="true" sz="2399">
                <a:solidFill>
                  <a:srgbClr val="FBF1F2"/>
                </a:solidFill>
                <a:latin typeface="Clear Sans Bold"/>
                <a:ea typeface="Clear Sans Bold"/>
                <a:cs typeface="Clear Sans Bold"/>
                <a:sym typeface="Clear Sans Bold"/>
              </a:rPr>
              <a:t>Linear Regression Seasonality R²: 1.0</a:t>
            </a:r>
          </a:p>
          <a:p>
            <a:pPr algn="l" marL="0" indent="0" lvl="0">
              <a:lnSpc>
                <a:spcPts val="3359"/>
              </a:lnSpc>
              <a:spcBef>
                <a:spcPct val="0"/>
              </a:spcBef>
            </a:pPr>
          </a:p>
          <a:p>
            <a:pPr algn="l" marL="0" indent="0" lvl="0">
              <a:lnSpc>
                <a:spcPts val="3359"/>
              </a:lnSpc>
              <a:spcBef>
                <a:spcPct val="0"/>
              </a:spcBef>
            </a:pPr>
            <a:r>
              <a:rPr lang="en-US" b="true" sz="2399">
                <a:solidFill>
                  <a:srgbClr val="FBF1F2"/>
                </a:solidFill>
                <a:latin typeface="Clear Sans Bold"/>
                <a:ea typeface="Clear Sans Bold"/>
                <a:cs typeface="Clear Sans Bold"/>
                <a:sym typeface="Clear Sans Bold"/>
              </a:rPr>
              <a:t>Overall Conclusion The Linear Regression model is an ideal predictor for this target variable. The R2 of 1.0 and RMSE of 0.0 are unusual for real-world data and suggest a direct, deterministic, and perfectly linear relationship between the independent and dependent variables. The Base Linear Regression model is the most efficient solution due to its perfect performance with fewer features. </a:t>
            </a:r>
          </a:p>
        </p:txBody>
      </p:sp>
      <p:sp>
        <p:nvSpPr>
          <p:cNvPr name="TextBox 5" id="5"/>
          <p:cNvSpPr txBox="true"/>
          <p:nvPr/>
        </p:nvSpPr>
        <p:spPr>
          <a:xfrm rot="0">
            <a:off x="666750" y="1562100"/>
            <a:ext cx="9763125" cy="3167843"/>
          </a:xfrm>
          <a:prstGeom prst="rect">
            <a:avLst/>
          </a:prstGeom>
        </p:spPr>
        <p:txBody>
          <a:bodyPr anchor="t" rtlCol="false" tIns="0" lIns="0" bIns="0" rIns="0">
            <a:spAutoFit/>
          </a:bodyPr>
          <a:lstStyle/>
          <a:p>
            <a:pPr algn="l" marL="0" indent="0" lvl="0">
              <a:lnSpc>
                <a:spcPts val="8399"/>
              </a:lnSpc>
            </a:pPr>
            <a:r>
              <a:rPr lang="en-US" sz="6999" spc="-139">
                <a:solidFill>
                  <a:srgbClr val="FBF1F2"/>
                </a:solidFill>
                <a:latin typeface="Tenor Sans"/>
                <a:ea typeface="Tenor Sans"/>
                <a:cs typeface="Tenor Sans"/>
                <a:sym typeface="Tenor Sans"/>
              </a:rPr>
              <a:t>Machine Learning Model 5: Linear Regression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63943"/>
        </a:solidFill>
      </p:bgPr>
    </p:bg>
    <p:spTree>
      <p:nvGrpSpPr>
        <p:cNvPr id="1" name=""/>
        <p:cNvGrpSpPr/>
        <p:nvPr/>
      </p:nvGrpSpPr>
      <p:grpSpPr>
        <a:xfrm>
          <a:off x="0" y="0"/>
          <a:ext cx="0" cy="0"/>
          <a:chOff x="0" y="0"/>
          <a:chExt cx="0" cy="0"/>
        </a:xfrm>
      </p:grpSpPr>
      <p:sp>
        <p:nvSpPr>
          <p:cNvPr name="Freeform 2" id="2"/>
          <p:cNvSpPr/>
          <p:nvPr/>
        </p:nvSpPr>
        <p:spPr>
          <a:xfrm flipH="false" flipV="false" rot="0">
            <a:off x="9704831" y="149739"/>
            <a:ext cx="5448601" cy="4993761"/>
          </a:xfrm>
          <a:custGeom>
            <a:avLst/>
            <a:gdLst/>
            <a:ahLst/>
            <a:cxnLst/>
            <a:rect r="r" b="b" t="t" l="l"/>
            <a:pathLst>
              <a:path h="4993761" w="5448601">
                <a:moveTo>
                  <a:pt x="0" y="0"/>
                </a:moveTo>
                <a:lnTo>
                  <a:pt x="5448601" y="0"/>
                </a:lnTo>
                <a:lnTo>
                  <a:pt x="5448601" y="4993761"/>
                </a:lnTo>
                <a:lnTo>
                  <a:pt x="0" y="4993761"/>
                </a:lnTo>
                <a:lnTo>
                  <a:pt x="0" y="0"/>
                </a:lnTo>
                <a:close/>
              </a:path>
            </a:pathLst>
          </a:custGeom>
          <a:blipFill>
            <a:blip r:embed="rId2"/>
            <a:stretch>
              <a:fillRect l="0" t="0" r="0" b="0"/>
            </a:stretch>
          </a:blipFill>
        </p:spPr>
      </p:sp>
      <p:sp>
        <p:nvSpPr>
          <p:cNvPr name="Freeform 3" id="3"/>
          <p:cNvSpPr/>
          <p:nvPr/>
        </p:nvSpPr>
        <p:spPr>
          <a:xfrm flipH="false" flipV="false" rot="0">
            <a:off x="11640694" y="5278560"/>
            <a:ext cx="5416367" cy="4848152"/>
          </a:xfrm>
          <a:custGeom>
            <a:avLst/>
            <a:gdLst/>
            <a:ahLst/>
            <a:cxnLst/>
            <a:rect r="r" b="b" t="t" l="l"/>
            <a:pathLst>
              <a:path h="4848152" w="5416367">
                <a:moveTo>
                  <a:pt x="0" y="0"/>
                </a:moveTo>
                <a:lnTo>
                  <a:pt x="5416367" y="0"/>
                </a:lnTo>
                <a:lnTo>
                  <a:pt x="5416367" y="4848152"/>
                </a:lnTo>
                <a:lnTo>
                  <a:pt x="0" y="4848152"/>
                </a:lnTo>
                <a:lnTo>
                  <a:pt x="0" y="0"/>
                </a:lnTo>
                <a:close/>
              </a:path>
            </a:pathLst>
          </a:custGeom>
          <a:blipFill>
            <a:blip r:embed="rId3"/>
            <a:stretch>
              <a:fillRect l="0" t="0" r="0" b="0"/>
            </a:stretch>
          </a:blipFill>
        </p:spPr>
      </p:sp>
      <p:sp>
        <p:nvSpPr>
          <p:cNvPr name="TextBox 4" id="4"/>
          <p:cNvSpPr txBox="true"/>
          <p:nvPr/>
        </p:nvSpPr>
        <p:spPr>
          <a:xfrm rot="0">
            <a:off x="666750" y="5095875"/>
            <a:ext cx="9763125" cy="39274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FBF1F2"/>
                </a:solidFill>
                <a:latin typeface="Clear Sans Bold"/>
                <a:ea typeface="Clear Sans Bold"/>
                <a:cs typeface="Clear Sans Bold"/>
                <a:sym typeface="Clear Sans Bold"/>
              </a:rPr>
              <a:t>KNN</a:t>
            </a:r>
            <a:r>
              <a:rPr lang="en-US" b="true" sz="2499">
                <a:solidFill>
                  <a:srgbClr val="FBF1F2"/>
                </a:solidFill>
                <a:latin typeface="Clear Sans Bold"/>
                <a:ea typeface="Clear Sans Bold"/>
                <a:cs typeface="Clear Sans Bold"/>
                <a:sym typeface="Clear Sans Bold"/>
              </a:rPr>
              <a:t> Base Accuracy: 0.829</a:t>
            </a:r>
          </a:p>
          <a:p>
            <a:pPr algn="l" marL="0" indent="0" lvl="0">
              <a:lnSpc>
                <a:spcPts val="3499"/>
              </a:lnSpc>
              <a:spcBef>
                <a:spcPct val="0"/>
              </a:spcBef>
            </a:pPr>
            <a:r>
              <a:rPr lang="en-US" b="true" sz="2499">
                <a:solidFill>
                  <a:srgbClr val="FBF1F2"/>
                </a:solidFill>
                <a:latin typeface="Clear Sans Bold"/>
                <a:ea typeface="Clear Sans Bold"/>
                <a:cs typeface="Clear Sans Bold"/>
                <a:sym typeface="Clear Sans Bold"/>
              </a:rPr>
              <a:t>KNN Seasonality Accuracy: 0.829</a:t>
            </a:r>
          </a:p>
          <a:p>
            <a:pPr algn="l" marL="0" indent="0" lvl="0">
              <a:lnSpc>
                <a:spcPts val="3499"/>
              </a:lnSpc>
              <a:spcBef>
                <a:spcPct val="0"/>
              </a:spcBef>
            </a:pPr>
          </a:p>
          <a:p>
            <a:pPr algn="l" marL="0" indent="0" lvl="0">
              <a:lnSpc>
                <a:spcPts val="3499"/>
              </a:lnSpc>
              <a:spcBef>
                <a:spcPct val="0"/>
              </a:spcBef>
            </a:pPr>
            <a:r>
              <a:rPr lang="en-US" b="true" sz="2499">
                <a:solidFill>
                  <a:srgbClr val="FBF1F2"/>
                </a:solidFill>
                <a:latin typeface="Clear Sans Bold"/>
                <a:ea typeface="Clear Sans Bold"/>
                <a:cs typeface="Clear Sans Bold"/>
                <a:sym typeface="Clear Sans Bold"/>
              </a:rPr>
              <a:t>Summary The KNN models are reasonably accurate (82.9%) and perform consistently well across both classes (Recall ≈ 83.3% for Class 0 and 82.5% for Class 1). Crucially, the analysis reveals that seasonality features did not add predictive value to the base KNN model, suggesting that the spatial/locational features alone are sufficient for this level of classification performance. </a:t>
            </a:r>
          </a:p>
        </p:txBody>
      </p:sp>
      <p:sp>
        <p:nvSpPr>
          <p:cNvPr name="TextBox 5" id="5"/>
          <p:cNvSpPr txBox="true"/>
          <p:nvPr/>
        </p:nvSpPr>
        <p:spPr>
          <a:xfrm rot="0">
            <a:off x="666750" y="1562100"/>
            <a:ext cx="9763125" cy="3167843"/>
          </a:xfrm>
          <a:prstGeom prst="rect">
            <a:avLst/>
          </a:prstGeom>
        </p:spPr>
        <p:txBody>
          <a:bodyPr anchor="t" rtlCol="false" tIns="0" lIns="0" bIns="0" rIns="0">
            <a:spAutoFit/>
          </a:bodyPr>
          <a:lstStyle/>
          <a:p>
            <a:pPr algn="l" marL="0" indent="0" lvl="0">
              <a:lnSpc>
                <a:spcPts val="8399"/>
              </a:lnSpc>
            </a:pPr>
            <a:r>
              <a:rPr lang="en-US" sz="6999" spc="-139">
                <a:solidFill>
                  <a:srgbClr val="FBF1F2"/>
                </a:solidFill>
                <a:latin typeface="Tenor Sans"/>
                <a:ea typeface="Tenor Sans"/>
                <a:cs typeface="Tenor Sans"/>
                <a:sym typeface="Tenor Sans"/>
              </a:rPr>
              <a:t>Machine Learning Model 6: KNN Classifier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63943"/>
        </a:solidFill>
      </p:bgPr>
    </p:bg>
    <p:spTree>
      <p:nvGrpSpPr>
        <p:cNvPr id="1" name=""/>
        <p:cNvGrpSpPr/>
        <p:nvPr/>
      </p:nvGrpSpPr>
      <p:grpSpPr>
        <a:xfrm>
          <a:off x="0" y="0"/>
          <a:ext cx="0" cy="0"/>
          <a:chOff x="0" y="0"/>
          <a:chExt cx="0" cy="0"/>
        </a:xfrm>
      </p:grpSpPr>
      <p:sp>
        <p:nvSpPr>
          <p:cNvPr name="Freeform 2" id="2"/>
          <p:cNvSpPr/>
          <p:nvPr/>
        </p:nvSpPr>
        <p:spPr>
          <a:xfrm flipH="false" flipV="false" rot="0">
            <a:off x="10756779" y="5452283"/>
            <a:ext cx="5005096" cy="4238187"/>
          </a:xfrm>
          <a:custGeom>
            <a:avLst/>
            <a:gdLst/>
            <a:ahLst/>
            <a:cxnLst/>
            <a:rect r="r" b="b" t="t" l="l"/>
            <a:pathLst>
              <a:path h="4238187" w="5005096">
                <a:moveTo>
                  <a:pt x="0" y="0"/>
                </a:moveTo>
                <a:lnTo>
                  <a:pt x="5005096" y="0"/>
                </a:lnTo>
                <a:lnTo>
                  <a:pt x="5005096" y="4238187"/>
                </a:lnTo>
                <a:lnTo>
                  <a:pt x="0" y="4238187"/>
                </a:lnTo>
                <a:lnTo>
                  <a:pt x="0" y="0"/>
                </a:lnTo>
                <a:close/>
              </a:path>
            </a:pathLst>
          </a:custGeom>
          <a:blipFill>
            <a:blip r:embed="rId2"/>
            <a:stretch>
              <a:fillRect l="0" t="0" r="0" b="0"/>
            </a:stretch>
          </a:blipFill>
        </p:spPr>
      </p:sp>
      <p:sp>
        <p:nvSpPr>
          <p:cNvPr name="Freeform 3" id="3"/>
          <p:cNvSpPr/>
          <p:nvPr/>
        </p:nvSpPr>
        <p:spPr>
          <a:xfrm flipH="false" flipV="false" rot="0">
            <a:off x="12490052" y="666983"/>
            <a:ext cx="5005096" cy="4286583"/>
          </a:xfrm>
          <a:custGeom>
            <a:avLst/>
            <a:gdLst/>
            <a:ahLst/>
            <a:cxnLst/>
            <a:rect r="r" b="b" t="t" l="l"/>
            <a:pathLst>
              <a:path h="4286583" w="5005096">
                <a:moveTo>
                  <a:pt x="0" y="0"/>
                </a:moveTo>
                <a:lnTo>
                  <a:pt x="5005096" y="0"/>
                </a:lnTo>
                <a:lnTo>
                  <a:pt x="5005096" y="4286583"/>
                </a:lnTo>
                <a:lnTo>
                  <a:pt x="0" y="4286583"/>
                </a:lnTo>
                <a:lnTo>
                  <a:pt x="0" y="0"/>
                </a:lnTo>
                <a:close/>
              </a:path>
            </a:pathLst>
          </a:custGeom>
          <a:blipFill>
            <a:blip r:embed="rId3"/>
            <a:stretch>
              <a:fillRect l="0" t="0" r="0" b="0"/>
            </a:stretch>
          </a:blipFill>
        </p:spPr>
      </p:sp>
      <p:sp>
        <p:nvSpPr>
          <p:cNvPr name="TextBox 4" id="4"/>
          <p:cNvSpPr txBox="true"/>
          <p:nvPr/>
        </p:nvSpPr>
        <p:spPr>
          <a:xfrm rot="0">
            <a:off x="666750" y="1562100"/>
            <a:ext cx="9763125" cy="3167843"/>
          </a:xfrm>
          <a:prstGeom prst="rect">
            <a:avLst/>
          </a:prstGeom>
        </p:spPr>
        <p:txBody>
          <a:bodyPr anchor="t" rtlCol="false" tIns="0" lIns="0" bIns="0" rIns="0">
            <a:spAutoFit/>
          </a:bodyPr>
          <a:lstStyle/>
          <a:p>
            <a:pPr algn="l" marL="0" indent="0" lvl="0">
              <a:lnSpc>
                <a:spcPts val="8399"/>
              </a:lnSpc>
            </a:pPr>
            <a:r>
              <a:rPr lang="en-US" sz="6999" spc="-139">
                <a:solidFill>
                  <a:srgbClr val="FBF1F2"/>
                </a:solidFill>
                <a:latin typeface="Tenor Sans"/>
                <a:ea typeface="Tenor Sans"/>
                <a:cs typeface="Tenor Sans"/>
                <a:sym typeface="Tenor Sans"/>
              </a:rPr>
              <a:t>Machine Learning Model 7: Decision Trees </a:t>
            </a:r>
          </a:p>
        </p:txBody>
      </p:sp>
      <p:sp>
        <p:nvSpPr>
          <p:cNvPr name="TextBox 5" id="5"/>
          <p:cNvSpPr txBox="true"/>
          <p:nvPr/>
        </p:nvSpPr>
        <p:spPr>
          <a:xfrm rot="0">
            <a:off x="666750" y="5095875"/>
            <a:ext cx="8842335" cy="4177665"/>
          </a:xfrm>
          <a:prstGeom prst="rect">
            <a:avLst/>
          </a:prstGeom>
        </p:spPr>
        <p:txBody>
          <a:bodyPr anchor="t" rtlCol="false" tIns="0" lIns="0" bIns="0" rIns="0">
            <a:spAutoFit/>
          </a:bodyPr>
          <a:lstStyle/>
          <a:p>
            <a:pPr algn="l">
              <a:lnSpc>
                <a:spcPts val="3359"/>
              </a:lnSpc>
              <a:spcBef>
                <a:spcPct val="0"/>
              </a:spcBef>
            </a:pPr>
            <a:r>
              <a:rPr lang="en-US" b="true" sz="2400">
                <a:solidFill>
                  <a:srgbClr val="FBF1F2"/>
                </a:solidFill>
                <a:latin typeface="Clear Sans Bold"/>
                <a:ea typeface="Clear Sans Bold"/>
                <a:cs typeface="Clear Sans Bold"/>
                <a:sym typeface="Clear Sans Bold"/>
              </a:rPr>
              <a:t>DECISI</a:t>
            </a:r>
            <a:r>
              <a:rPr lang="en-US" b="true" sz="2400">
                <a:solidFill>
                  <a:srgbClr val="FBF1F2"/>
                </a:solidFill>
                <a:latin typeface="Clear Sans Bold"/>
                <a:ea typeface="Clear Sans Bold"/>
                <a:cs typeface="Clear Sans Bold"/>
                <a:sym typeface="Clear Sans Bold"/>
              </a:rPr>
              <a:t>ON TREE BASE MODEL ACCURACY: 1.0</a:t>
            </a:r>
          </a:p>
          <a:p>
            <a:pPr algn="l">
              <a:lnSpc>
                <a:spcPts val="3359"/>
              </a:lnSpc>
              <a:spcBef>
                <a:spcPct val="0"/>
              </a:spcBef>
            </a:pPr>
            <a:r>
              <a:rPr lang="en-US" b="true" sz="2400">
                <a:solidFill>
                  <a:srgbClr val="FBF1F2"/>
                </a:solidFill>
                <a:latin typeface="Clear Sans Bold"/>
                <a:ea typeface="Clear Sans Bold"/>
                <a:cs typeface="Clear Sans Bold"/>
                <a:sym typeface="Clear Sans Bold"/>
              </a:rPr>
              <a:t>DECISION TREE SEASONALITY MODEL ACCURACY: 1.0</a:t>
            </a:r>
          </a:p>
          <a:p>
            <a:pPr algn="l">
              <a:lnSpc>
                <a:spcPts val="3359"/>
              </a:lnSpc>
              <a:spcBef>
                <a:spcPct val="0"/>
              </a:spcBef>
            </a:pPr>
          </a:p>
          <a:p>
            <a:pPr algn="l">
              <a:lnSpc>
                <a:spcPts val="3359"/>
              </a:lnSpc>
              <a:spcBef>
                <a:spcPct val="0"/>
              </a:spcBef>
            </a:pPr>
            <a:r>
              <a:rPr lang="en-US" b="true" sz="2400">
                <a:solidFill>
                  <a:srgbClr val="FBF1F2"/>
                </a:solidFill>
                <a:latin typeface="Clear Sans Bold"/>
                <a:ea typeface="Clear Sans Bold"/>
                <a:cs typeface="Clear Sans Bold"/>
                <a:sym typeface="Clear Sans Bold"/>
              </a:rPr>
              <a:t>THE DECISION TREE MODEL IS THE MOST INTERPRETABLE AND EFFICIENT CLASSIFIER AMONG THE PERFECT-SCORING MODELS. ITS SINGLE-SPLIT STRUCTURE DEMONSTRATES THAT THE BINARY TARGET IS PERFECTLY DETERMINED BY A TRIVIAL THRESHOLD ON THE GAP FEATURE. AS SEEN WITH OTHER MODELS, SEASONALITY FEATURES WERE REDUNDANT. </a:t>
            </a:r>
          </a:p>
          <a:p>
            <a:pPr algn="l">
              <a:lnSpc>
                <a:spcPts val="3359"/>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63943"/>
        </a:solidFill>
      </p:bgPr>
    </p:bg>
    <p:spTree>
      <p:nvGrpSpPr>
        <p:cNvPr id="1" name=""/>
        <p:cNvGrpSpPr/>
        <p:nvPr/>
      </p:nvGrpSpPr>
      <p:grpSpPr>
        <a:xfrm>
          <a:off x="0" y="0"/>
          <a:ext cx="0" cy="0"/>
          <a:chOff x="0" y="0"/>
          <a:chExt cx="0" cy="0"/>
        </a:xfrm>
      </p:grpSpPr>
      <p:sp>
        <p:nvSpPr>
          <p:cNvPr name="Freeform 2" id="2"/>
          <p:cNvSpPr/>
          <p:nvPr/>
        </p:nvSpPr>
        <p:spPr>
          <a:xfrm flipH="false" flipV="false" rot="0">
            <a:off x="11006998" y="5257122"/>
            <a:ext cx="5551521" cy="4777727"/>
          </a:xfrm>
          <a:custGeom>
            <a:avLst/>
            <a:gdLst/>
            <a:ahLst/>
            <a:cxnLst/>
            <a:rect r="r" b="b" t="t" l="l"/>
            <a:pathLst>
              <a:path h="4777727" w="5551521">
                <a:moveTo>
                  <a:pt x="0" y="0"/>
                </a:moveTo>
                <a:lnTo>
                  <a:pt x="5551521" y="0"/>
                </a:lnTo>
                <a:lnTo>
                  <a:pt x="5551521" y="4777728"/>
                </a:lnTo>
                <a:lnTo>
                  <a:pt x="0" y="4777728"/>
                </a:lnTo>
                <a:lnTo>
                  <a:pt x="0" y="0"/>
                </a:lnTo>
                <a:close/>
              </a:path>
            </a:pathLst>
          </a:custGeom>
          <a:blipFill>
            <a:blip r:embed="rId2"/>
            <a:stretch>
              <a:fillRect l="0" t="0" r="0" b="0"/>
            </a:stretch>
          </a:blipFill>
        </p:spPr>
      </p:sp>
      <p:sp>
        <p:nvSpPr>
          <p:cNvPr name="Freeform 3" id="3"/>
          <p:cNvSpPr/>
          <p:nvPr/>
        </p:nvSpPr>
        <p:spPr>
          <a:xfrm flipH="false" flipV="false" rot="0">
            <a:off x="9369785" y="342586"/>
            <a:ext cx="5660507" cy="4800914"/>
          </a:xfrm>
          <a:custGeom>
            <a:avLst/>
            <a:gdLst/>
            <a:ahLst/>
            <a:cxnLst/>
            <a:rect r="r" b="b" t="t" l="l"/>
            <a:pathLst>
              <a:path h="4800914" w="5660507">
                <a:moveTo>
                  <a:pt x="0" y="0"/>
                </a:moveTo>
                <a:lnTo>
                  <a:pt x="5660507" y="0"/>
                </a:lnTo>
                <a:lnTo>
                  <a:pt x="5660507" y="4800914"/>
                </a:lnTo>
                <a:lnTo>
                  <a:pt x="0" y="4800914"/>
                </a:lnTo>
                <a:lnTo>
                  <a:pt x="0" y="0"/>
                </a:lnTo>
                <a:close/>
              </a:path>
            </a:pathLst>
          </a:custGeom>
          <a:blipFill>
            <a:blip r:embed="rId3"/>
            <a:stretch>
              <a:fillRect l="0" t="0" r="0" b="0"/>
            </a:stretch>
          </a:blipFill>
        </p:spPr>
      </p:sp>
      <p:sp>
        <p:nvSpPr>
          <p:cNvPr name="TextBox 4" id="4"/>
          <p:cNvSpPr txBox="true"/>
          <p:nvPr/>
        </p:nvSpPr>
        <p:spPr>
          <a:xfrm rot="0">
            <a:off x="801810" y="4910872"/>
            <a:ext cx="9763125" cy="48037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FBF1F2"/>
                </a:solidFill>
                <a:latin typeface="Clear Sans Bold"/>
                <a:ea typeface="Clear Sans Bold"/>
                <a:cs typeface="Clear Sans Bold"/>
                <a:sym typeface="Clear Sans Bold"/>
              </a:rPr>
              <a:t>Ra</a:t>
            </a:r>
            <a:r>
              <a:rPr lang="en-US" b="true" sz="2499">
                <a:solidFill>
                  <a:srgbClr val="FBF1F2"/>
                </a:solidFill>
                <a:latin typeface="Clear Sans Bold"/>
                <a:ea typeface="Clear Sans Bold"/>
                <a:cs typeface="Clear Sans Bold"/>
                <a:sym typeface="Clear Sans Bold"/>
              </a:rPr>
              <a:t>ndom Forest Base Model Accuracy: 1.0</a:t>
            </a:r>
          </a:p>
          <a:p>
            <a:pPr algn="l" marL="0" indent="0" lvl="0">
              <a:lnSpc>
                <a:spcPts val="3499"/>
              </a:lnSpc>
              <a:spcBef>
                <a:spcPct val="0"/>
              </a:spcBef>
            </a:pPr>
            <a:r>
              <a:rPr lang="en-US" b="true" sz="2499">
                <a:solidFill>
                  <a:srgbClr val="FBF1F2"/>
                </a:solidFill>
                <a:latin typeface="Clear Sans Bold"/>
                <a:ea typeface="Clear Sans Bold"/>
                <a:cs typeface="Clear Sans Bold"/>
                <a:sym typeface="Clear Sans Bold"/>
              </a:rPr>
              <a:t>Random Forest Seasonality Model Accuracy: 1.0</a:t>
            </a:r>
          </a:p>
          <a:p>
            <a:pPr algn="l" marL="0" indent="0" lvl="0">
              <a:lnSpc>
                <a:spcPts val="3499"/>
              </a:lnSpc>
              <a:spcBef>
                <a:spcPct val="0"/>
              </a:spcBef>
            </a:pPr>
          </a:p>
          <a:p>
            <a:pPr algn="l" marL="0" indent="0" lvl="0">
              <a:lnSpc>
                <a:spcPts val="3499"/>
              </a:lnSpc>
              <a:spcBef>
                <a:spcPct val="0"/>
              </a:spcBef>
            </a:pPr>
            <a:r>
              <a:rPr lang="en-US" b="true" sz="2499">
                <a:solidFill>
                  <a:srgbClr val="FBF1F2"/>
                </a:solidFill>
                <a:latin typeface="Clear Sans Bold"/>
                <a:ea typeface="Clear Sans Bold"/>
                <a:cs typeface="Clear Sans Bold"/>
                <a:sym typeface="Clear Sans Bold"/>
              </a:rPr>
              <a:t>Overall Conclusion The Random Forest classifier performed perfectly, confirming the results from other robust models. Since the Decision Tree achieved perfect performance with a single simple split on the gap feature, the Random Forest ensemble technique, while more complex, does not offer a predictive advantage here. Given the perfect scores, the Base RF model is the preferred choice for its simplicity over the Seasonality RF model. </a:t>
            </a:r>
          </a:p>
        </p:txBody>
      </p:sp>
      <p:sp>
        <p:nvSpPr>
          <p:cNvPr name="TextBox 5" id="5"/>
          <p:cNvSpPr txBox="true"/>
          <p:nvPr/>
        </p:nvSpPr>
        <p:spPr>
          <a:xfrm rot="0">
            <a:off x="666750" y="1562100"/>
            <a:ext cx="9763125" cy="3167843"/>
          </a:xfrm>
          <a:prstGeom prst="rect">
            <a:avLst/>
          </a:prstGeom>
        </p:spPr>
        <p:txBody>
          <a:bodyPr anchor="t" rtlCol="false" tIns="0" lIns="0" bIns="0" rIns="0">
            <a:spAutoFit/>
          </a:bodyPr>
          <a:lstStyle/>
          <a:p>
            <a:pPr algn="l" marL="0" indent="0" lvl="0">
              <a:lnSpc>
                <a:spcPts val="8399"/>
              </a:lnSpc>
            </a:pPr>
            <a:r>
              <a:rPr lang="en-US" sz="6999" spc="-139">
                <a:solidFill>
                  <a:srgbClr val="FBF1F2"/>
                </a:solidFill>
                <a:latin typeface="Tenor Sans"/>
                <a:ea typeface="Tenor Sans"/>
                <a:cs typeface="Tenor Sans"/>
                <a:sym typeface="Tenor Sans"/>
              </a:rPr>
              <a:t>Machine Learning Model 8: Random Forest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63943"/>
        </a:solidFill>
      </p:bgPr>
    </p:bg>
    <p:spTree>
      <p:nvGrpSpPr>
        <p:cNvPr id="1" name=""/>
        <p:cNvGrpSpPr/>
        <p:nvPr/>
      </p:nvGrpSpPr>
      <p:grpSpPr>
        <a:xfrm>
          <a:off x="0" y="0"/>
          <a:ext cx="0" cy="0"/>
          <a:chOff x="0" y="0"/>
          <a:chExt cx="0" cy="0"/>
        </a:xfrm>
      </p:grpSpPr>
      <p:sp>
        <p:nvSpPr>
          <p:cNvPr name="Freeform 2" id="2"/>
          <p:cNvSpPr/>
          <p:nvPr/>
        </p:nvSpPr>
        <p:spPr>
          <a:xfrm flipH="false" flipV="false" rot="0">
            <a:off x="9440404" y="253662"/>
            <a:ext cx="5746724" cy="4889838"/>
          </a:xfrm>
          <a:custGeom>
            <a:avLst/>
            <a:gdLst/>
            <a:ahLst/>
            <a:cxnLst/>
            <a:rect r="r" b="b" t="t" l="l"/>
            <a:pathLst>
              <a:path h="4889838" w="5746724">
                <a:moveTo>
                  <a:pt x="0" y="0"/>
                </a:moveTo>
                <a:lnTo>
                  <a:pt x="5746724" y="0"/>
                </a:lnTo>
                <a:lnTo>
                  <a:pt x="5746724" y="4889838"/>
                </a:lnTo>
                <a:lnTo>
                  <a:pt x="0" y="4889838"/>
                </a:lnTo>
                <a:lnTo>
                  <a:pt x="0" y="0"/>
                </a:lnTo>
                <a:close/>
              </a:path>
            </a:pathLst>
          </a:custGeom>
          <a:blipFill>
            <a:blip r:embed="rId2"/>
            <a:stretch>
              <a:fillRect l="0" t="0" r="0" b="0"/>
            </a:stretch>
          </a:blipFill>
        </p:spPr>
      </p:sp>
      <p:sp>
        <p:nvSpPr>
          <p:cNvPr name="Freeform 3" id="3"/>
          <p:cNvSpPr/>
          <p:nvPr/>
        </p:nvSpPr>
        <p:spPr>
          <a:xfrm flipH="false" flipV="false" rot="0">
            <a:off x="11512576" y="5278560"/>
            <a:ext cx="5746724" cy="4864027"/>
          </a:xfrm>
          <a:custGeom>
            <a:avLst/>
            <a:gdLst/>
            <a:ahLst/>
            <a:cxnLst/>
            <a:rect r="r" b="b" t="t" l="l"/>
            <a:pathLst>
              <a:path h="4864027" w="5746724">
                <a:moveTo>
                  <a:pt x="0" y="0"/>
                </a:moveTo>
                <a:lnTo>
                  <a:pt x="5746724" y="0"/>
                </a:lnTo>
                <a:lnTo>
                  <a:pt x="5746724" y="4864027"/>
                </a:lnTo>
                <a:lnTo>
                  <a:pt x="0" y="4864027"/>
                </a:lnTo>
                <a:lnTo>
                  <a:pt x="0" y="0"/>
                </a:lnTo>
                <a:close/>
              </a:path>
            </a:pathLst>
          </a:custGeom>
          <a:blipFill>
            <a:blip r:embed="rId3"/>
            <a:stretch>
              <a:fillRect l="0" t="0" r="0" b="0"/>
            </a:stretch>
          </a:blipFill>
        </p:spPr>
      </p:sp>
      <p:sp>
        <p:nvSpPr>
          <p:cNvPr name="TextBox 4" id="4"/>
          <p:cNvSpPr txBox="true"/>
          <p:nvPr/>
        </p:nvSpPr>
        <p:spPr>
          <a:xfrm rot="0">
            <a:off x="666750" y="4892675"/>
            <a:ext cx="9763125" cy="436562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FBF1F2"/>
                </a:solidFill>
                <a:latin typeface="Clear Sans Bold"/>
                <a:ea typeface="Clear Sans Bold"/>
                <a:cs typeface="Clear Sans Bold"/>
                <a:sym typeface="Clear Sans Bold"/>
              </a:rPr>
              <a:t>XGB</a:t>
            </a:r>
            <a:r>
              <a:rPr lang="en-US" b="true" sz="2499">
                <a:solidFill>
                  <a:srgbClr val="FBF1F2"/>
                </a:solidFill>
                <a:latin typeface="Clear Sans Bold"/>
                <a:ea typeface="Clear Sans Bold"/>
                <a:cs typeface="Clear Sans Bold"/>
                <a:sym typeface="Clear Sans Bold"/>
              </a:rPr>
              <a:t>oost Base Model Accuracy: 1.0</a:t>
            </a:r>
          </a:p>
          <a:p>
            <a:pPr algn="l" marL="0" indent="0" lvl="0">
              <a:lnSpc>
                <a:spcPts val="3499"/>
              </a:lnSpc>
              <a:spcBef>
                <a:spcPct val="0"/>
              </a:spcBef>
            </a:pPr>
            <a:r>
              <a:rPr lang="en-US" b="true" sz="2499">
                <a:solidFill>
                  <a:srgbClr val="FBF1F2"/>
                </a:solidFill>
                <a:latin typeface="Clear Sans Bold"/>
                <a:ea typeface="Clear Sans Bold"/>
                <a:cs typeface="Clear Sans Bold"/>
                <a:sym typeface="Clear Sans Bold"/>
              </a:rPr>
              <a:t>XGBoost Seasonality Model Accuracy: 1.0</a:t>
            </a:r>
          </a:p>
          <a:p>
            <a:pPr algn="l" marL="0" indent="0" lvl="0">
              <a:lnSpc>
                <a:spcPts val="3499"/>
              </a:lnSpc>
              <a:spcBef>
                <a:spcPct val="0"/>
              </a:spcBef>
            </a:pPr>
          </a:p>
          <a:p>
            <a:pPr algn="l" marL="0" indent="0" lvl="0">
              <a:lnSpc>
                <a:spcPts val="3499"/>
              </a:lnSpc>
              <a:spcBef>
                <a:spcPct val="0"/>
              </a:spcBef>
            </a:pPr>
            <a:r>
              <a:rPr lang="en-US" b="true" sz="2499">
                <a:solidFill>
                  <a:srgbClr val="FBF1F2"/>
                </a:solidFill>
                <a:latin typeface="Clear Sans Bold"/>
                <a:ea typeface="Clear Sans Bold"/>
                <a:cs typeface="Clear Sans Bold"/>
                <a:sym typeface="Clear Sans Bold"/>
              </a:rPr>
              <a:t>Overall Conclusion XGBoost, a powerful boosting ensemble, confirmed the perfect classification achieved by simpler models. Given that the Decision Tree achieved perfection with a single split, the highly complex structure of XGBoost is unnecessary for this problem. The Base XGBoost model is the preferred choice over the Seasonality version, as the added seasonal features provide no benefit. </a:t>
            </a:r>
          </a:p>
        </p:txBody>
      </p:sp>
      <p:sp>
        <p:nvSpPr>
          <p:cNvPr name="TextBox 5" id="5"/>
          <p:cNvSpPr txBox="true"/>
          <p:nvPr/>
        </p:nvSpPr>
        <p:spPr>
          <a:xfrm rot="0">
            <a:off x="666750" y="1562100"/>
            <a:ext cx="9763125" cy="3167843"/>
          </a:xfrm>
          <a:prstGeom prst="rect">
            <a:avLst/>
          </a:prstGeom>
        </p:spPr>
        <p:txBody>
          <a:bodyPr anchor="t" rtlCol="false" tIns="0" lIns="0" bIns="0" rIns="0">
            <a:spAutoFit/>
          </a:bodyPr>
          <a:lstStyle/>
          <a:p>
            <a:pPr algn="l" marL="0" indent="0" lvl="0">
              <a:lnSpc>
                <a:spcPts val="8399"/>
              </a:lnSpc>
            </a:pPr>
            <a:r>
              <a:rPr lang="en-US" sz="6999" spc="-139">
                <a:solidFill>
                  <a:srgbClr val="FBF1F2"/>
                </a:solidFill>
                <a:latin typeface="Tenor Sans"/>
                <a:ea typeface="Tenor Sans"/>
                <a:cs typeface="Tenor Sans"/>
                <a:sym typeface="Tenor Sans"/>
              </a:rPr>
              <a:t>Machine Learning Model 9: XGBoost Classifier</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63943"/>
        </a:solidFill>
      </p:bgPr>
    </p:bg>
    <p:spTree>
      <p:nvGrpSpPr>
        <p:cNvPr id="1" name=""/>
        <p:cNvGrpSpPr/>
        <p:nvPr/>
      </p:nvGrpSpPr>
      <p:grpSpPr>
        <a:xfrm>
          <a:off x="0" y="0"/>
          <a:ext cx="0" cy="0"/>
          <a:chOff x="0" y="0"/>
          <a:chExt cx="0" cy="0"/>
        </a:xfrm>
      </p:grpSpPr>
      <p:sp>
        <p:nvSpPr>
          <p:cNvPr name="Freeform 2" id="2"/>
          <p:cNvSpPr/>
          <p:nvPr/>
        </p:nvSpPr>
        <p:spPr>
          <a:xfrm flipH="false" flipV="false" rot="0">
            <a:off x="8495054" y="481618"/>
            <a:ext cx="4656768" cy="4538875"/>
          </a:xfrm>
          <a:custGeom>
            <a:avLst/>
            <a:gdLst/>
            <a:ahLst/>
            <a:cxnLst/>
            <a:rect r="r" b="b" t="t" l="l"/>
            <a:pathLst>
              <a:path h="4538875" w="4656768">
                <a:moveTo>
                  <a:pt x="0" y="0"/>
                </a:moveTo>
                <a:lnTo>
                  <a:pt x="4656768" y="0"/>
                </a:lnTo>
                <a:lnTo>
                  <a:pt x="4656768" y="4538875"/>
                </a:lnTo>
                <a:lnTo>
                  <a:pt x="0" y="4538875"/>
                </a:lnTo>
                <a:lnTo>
                  <a:pt x="0" y="0"/>
                </a:lnTo>
                <a:close/>
              </a:path>
            </a:pathLst>
          </a:custGeom>
          <a:blipFill>
            <a:blip r:embed="rId2"/>
            <a:stretch>
              <a:fillRect l="0" t="0" r="0" b="0"/>
            </a:stretch>
          </a:blipFill>
        </p:spPr>
      </p:sp>
      <p:sp>
        <p:nvSpPr>
          <p:cNvPr name="Freeform 3" id="3"/>
          <p:cNvSpPr/>
          <p:nvPr/>
        </p:nvSpPr>
        <p:spPr>
          <a:xfrm flipH="false" flipV="false" rot="0">
            <a:off x="11483718" y="5143500"/>
            <a:ext cx="4840051" cy="4769792"/>
          </a:xfrm>
          <a:custGeom>
            <a:avLst/>
            <a:gdLst/>
            <a:ahLst/>
            <a:cxnLst/>
            <a:rect r="r" b="b" t="t" l="l"/>
            <a:pathLst>
              <a:path h="4769792" w="4840051">
                <a:moveTo>
                  <a:pt x="0" y="0"/>
                </a:moveTo>
                <a:lnTo>
                  <a:pt x="4840052" y="0"/>
                </a:lnTo>
                <a:lnTo>
                  <a:pt x="4840052" y="4769792"/>
                </a:lnTo>
                <a:lnTo>
                  <a:pt x="0" y="4769792"/>
                </a:lnTo>
                <a:lnTo>
                  <a:pt x="0" y="0"/>
                </a:lnTo>
                <a:close/>
              </a:path>
            </a:pathLst>
          </a:custGeom>
          <a:blipFill>
            <a:blip r:embed="rId3"/>
            <a:stretch>
              <a:fillRect l="0" t="0" r="0" b="0"/>
            </a:stretch>
          </a:blipFill>
        </p:spPr>
      </p:sp>
      <p:sp>
        <p:nvSpPr>
          <p:cNvPr name="TextBox 4" id="4"/>
          <p:cNvSpPr txBox="true"/>
          <p:nvPr/>
        </p:nvSpPr>
        <p:spPr>
          <a:xfrm rot="0">
            <a:off x="329099" y="3871956"/>
            <a:ext cx="9763125" cy="5989955"/>
          </a:xfrm>
          <a:prstGeom prst="rect">
            <a:avLst/>
          </a:prstGeom>
        </p:spPr>
        <p:txBody>
          <a:bodyPr anchor="t" rtlCol="false" tIns="0" lIns="0" bIns="0" rIns="0">
            <a:spAutoFit/>
          </a:bodyPr>
          <a:lstStyle/>
          <a:p>
            <a:pPr algn="l" marL="0" indent="0" lvl="0">
              <a:lnSpc>
                <a:spcPts val="3219"/>
              </a:lnSpc>
              <a:spcBef>
                <a:spcPct val="0"/>
              </a:spcBef>
            </a:pPr>
            <a:r>
              <a:rPr lang="en-US" b="true" sz="2299">
                <a:solidFill>
                  <a:srgbClr val="FBF1F2"/>
                </a:solidFill>
                <a:latin typeface="Clear Sans Bold"/>
                <a:ea typeface="Clear Sans Bold"/>
                <a:cs typeface="Clear Sans Bold"/>
                <a:sym typeface="Clear Sans Bold"/>
              </a:rPr>
              <a:t>=== Neural Netw</a:t>
            </a:r>
            <a:r>
              <a:rPr lang="en-US" b="true" sz="2299">
                <a:solidFill>
                  <a:srgbClr val="FBF1F2"/>
                </a:solidFill>
                <a:latin typeface="Clear Sans Bold"/>
                <a:ea typeface="Clear Sans Bold"/>
                <a:cs typeface="Clear Sans Bold"/>
                <a:sym typeface="Clear Sans Bold"/>
              </a:rPr>
              <a:t>ork (MLP) Classification ===</a:t>
            </a:r>
          </a:p>
          <a:p>
            <a:pPr algn="l" marL="0" indent="0" lvl="0">
              <a:lnSpc>
                <a:spcPts val="3219"/>
              </a:lnSpc>
              <a:spcBef>
                <a:spcPct val="0"/>
              </a:spcBef>
            </a:pPr>
            <a:r>
              <a:rPr lang="en-US" b="true" sz="2299">
                <a:solidFill>
                  <a:srgbClr val="FBF1F2"/>
                </a:solidFill>
                <a:latin typeface="Clear Sans Bold"/>
                <a:ea typeface="Clear Sans Bold"/>
                <a:cs typeface="Clear Sans Bold"/>
                <a:sym typeface="Clear Sans Bold"/>
              </a:rPr>
              <a:t>Base MLP Accuracy: 0.59</a:t>
            </a:r>
          </a:p>
          <a:p>
            <a:pPr algn="l" marL="0" indent="0" lvl="0">
              <a:lnSpc>
                <a:spcPts val="3219"/>
              </a:lnSpc>
              <a:spcBef>
                <a:spcPct val="0"/>
              </a:spcBef>
            </a:pPr>
            <a:r>
              <a:rPr lang="en-US" b="true" sz="2299">
                <a:solidFill>
                  <a:srgbClr val="FBF1F2"/>
                </a:solidFill>
                <a:latin typeface="Clear Sans Bold"/>
                <a:ea typeface="Clear Sans Bold"/>
                <a:cs typeface="Clear Sans Bold"/>
                <a:sym typeface="Clear Sans Bold"/>
              </a:rPr>
              <a:t>Seasonality MLP Accuracy: 0.571</a:t>
            </a:r>
          </a:p>
          <a:p>
            <a:pPr algn="l" marL="0" indent="0" lvl="0">
              <a:lnSpc>
                <a:spcPts val="3219"/>
              </a:lnSpc>
              <a:spcBef>
                <a:spcPct val="0"/>
              </a:spcBef>
            </a:pPr>
          </a:p>
          <a:p>
            <a:pPr algn="l" marL="0" indent="0" lvl="0">
              <a:lnSpc>
                <a:spcPts val="3219"/>
              </a:lnSpc>
              <a:spcBef>
                <a:spcPct val="0"/>
              </a:spcBef>
            </a:pPr>
            <a:r>
              <a:rPr lang="en-US" b="true" sz="2299">
                <a:solidFill>
                  <a:srgbClr val="FBF1F2"/>
                </a:solidFill>
                <a:latin typeface="Clear Sans Bold"/>
                <a:ea typeface="Clear Sans Bold"/>
                <a:cs typeface="Clear Sans Bold"/>
                <a:sym typeface="Clear Sans Bold"/>
              </a:rPr>
              <a:t>=== Neural Network (MLP) Regression ===</a:t>
            </a:r>
          </a:p>
          <a:p>
            <a:pPr algn="l" marL="0" indent="0" lvl="0">
              <a:lnSpc>
                <a:spcPts val="3219"/>
              </a:lnSpc>
              <a:spcBef>
                <a:spcPct val="0"/>
              </a:spcBef>
            </a:pPr>
            <a:r>
              <a:rPr lang="en-US" b="true" sz="2299">
                <a:solidFill>
                  <a:srgbClr val="FBF1F2"/>
                </a:solidFill>
                <a:latin typeface="Clear Sans Bold"/>
                <a:ea typeface="Clear Sans Bold"/>
                <a:cs typeface="Clear Sans Bold"/>
                <a:sym typeface="Clear Sans Bold"/>
              </a:rPr>
              <a:t>Base MLP RMSE: 0.878</a:t>
            </a:r>
          </a:p>
          <a:p>
            <a:pPr algn="l" marL="0" indent="0" lvl="0">
              <a:lnSpc>
                <a:spcPts val="3219"/>
              </a:lnSpc>
              <a:spcBef>
                <a:spcPct val="0"/>
              </a:spcBef>
            </a:pPr>
            <a:r>
              <a:rPr lang="en-US" b="true" sz="2299">
                <a:solidFill>
                  <a:srgbClr val="FBF1F2"/>
                </a:solidFill>
                <a:latin typeface="Clear Sans Bold"/>
                <a:ea typeface="Clear Sans Bold"/>
                <a:cs typeface="Clear Sans Bold"/>
                <a:sym typeface="Clear Sans Bold"/>
              </a:rPr>
              <a:t>Base MLP R²: 0.999</a:t>
            </a:r>
          </a:p>
          <a:p>
            <a:pPr algn="l" marL="0" indent="0" lvl="0">
              <a:lnSpc>
                <a:spcPts val="3219"/>
              </a:lnSpc>
              <a:spcBef>
                <a:spcPct val="0"/>
              </a:spcBef>
            </a:pPr>
            <a:r>
              <a:rPr lang="en-US" b="true" sz="2299">
                <a:solidFill>
                  <a:srgbClr val="FBF1F2"/>
                </a:solidFill>
                <a:latin typeface="Clear Sans Bold"/>
                <a:ea typeface="Clear Sans Bold"/>
                <a:cs typeface="Clear Sans Bold"/>
                <a:sym typeface="Clear Sans Bold"/>
              </a:rPr>
              <a:t>Seasonality MLP RMSE: 3.165</a:t>
            </a:r>
          </a:p>
          <a:p>
            <a:pPr algn="l" marL="0" indent="0" lvl="0">
              <a:lnSpc>
                <a:spcPts val="3219"/>
              </a:lnSpc>
              <a:spcBef>
                <a:spcPct val="0"/>
              </a:spcBef>
            </a:pPr>
            <a:r>
              <a:rPr lang="en-US" b="true" sz="2299">
                <a:solidFill>
                  <a:srgbClr val="FBF1F2"/>
                </a:solidFill>
                <a:latin typeface="Clear Sans Bold"/>
                <a:ea typeface="Clear Sans Bold"/>
                <a:cs typeface="Clear Sans Bold"/>
                <a:sym typeface="Clear Sans Bold"/>
              </a:rPr>
              <a:t>Seasonality MLP R²: 0.987</a:t>
            </a:r>
          </a:p>
          <a:p>
            <a:pPr algn="l" marL="0" indent="0" lvl="0">
              <a:lnSpc>
                <a:spcPts val="3219"/>
              </a:lnSpc>
              <a:spcBef>
                <a:spcPct val="0"/>
              </a:spcBef>
            </a:pPr>
          </a:p>
          <a:p>
            <a:pPr algn="l" marL="0" indent="0" lvl="0">
              <a:lnSpc>
                <a:spcPts val="3219"/>
              </a:lnSpc>
              <a:spcBef>
                <a:spcPct val="0"/>
              </a:spcBef>
            </a:pPr>
            <a:r>
              <a:rPr lang="en-US" b="true" sz="2299">
                <a:solidFill>
                  <a:srgbClr val="FBF1F2"/>
                </a:solidFill>
                <a:latin typeface="Clear Sans Bold"/>
                <a:ea typeface="Clear Sans Bold"/>
                <a:cs typeface="Clear Sans Bold"/>
                <a:sym typeface="Clear Sans Bold"/>
              </a:rPr>
              <a:t>The MLP model was a classification failure but an excellent regressor (Base MLP), closely matching Linear Regression. The addition of the Seasonality features severely degraded performance in both tasks, confirming the Base MLP as the superior choice for energy forecasting.</a:t>
            </a:r>
          </a:p>
          <a:p>
            <a:pPr algn="l" marL="0" indent="0" lvl="0">
              <a:lnSpc>
                <a:spcPts val="3219"/>
              </a:lnSpc>
              <a:spcBef>
                <a:spcPct val="0"/>
              </a:spcBef>
            </a:pPr>
          </a:p>
        </p:txBody>
      </p:sp>
      <p:sp>
        <p:nvSpPr>
          <p:cNvPr name="TextBox 5" id="5"/>
          <p:cNvSpPr txBox="true"/>
          <p:nvPr/>
        </p:nvSpPr>
        <p:spPr>
          <a:xfrm rot="0">
            <a:off x="329099" y="481618"/>
            <a:ext cx="9763125" cy="3167843"/>
          </a:xfrm>
          <a:prstGeom prst="rect">
            <a:avLst/>
          </a:prstGeom>
        </p:spPr>
        <p:txBody>
          <a:bodyPr anchor="t" rtlCol="false" tIns="0" lIns="0" bIns="0" rIns="0">
            <a:spAutoFit/>
          </a:bodyPr>
          <a:lstStyle/>
          <a:p>
            <a:pPr algn="l" marL="0" indent="0" lvl="0">
              <a:lnSpc>
                <a:spcPts val="8399"/>
              </a:lnSpc>
            </a:pPr>
            <a:r>
              <a:rPr lang="en-US" sz="6999" spc="-139">
                <a:solidFill>
                  <a:srgbClr val="FBF1F2"/>
                </a:solidFill>
                <a:latin typeface="Tenor Sans"/>
                <a:ea typeface="Tenor Sans"/>
                <a:cs typeface="Tenor Sans"/>
                <a:sym typeface="Tenor Sans"/>
              </a:rPr>
              <a:t>Machine Learning Model 9:  Neural Network Models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63943"/>
        </a:solidFill>
      </p:bgPr>
    </p:bg>
    <p:spTree>
      <p:nvGrpSpPr>
        <p:cNvPr id="1" name=""/>
        <p:cNvGrpSpPr/>
        <p:nvPr/>
      </p:nvGrpSpPr>
      <p:grpSpPr>
        <a:xfrm>
          <a:off x="0" y="0"/>
          <a:ext cx="0" cy="0"/>
          <a:chOff x="0" y="0"/>
          <a:chExt cx="0" cy="0"/>
        </a:xfrm>
      </p:grpSpPr>
      <p:sp>
        <p:nvSpPr>
          <p:cNvPr name="Freeform 2" id="2" descr="Dynamic Cut-out Shape"/>
          <p:cNvSpPr/>
          <p:nvPr/>
        </p:nvSpPr>
        <p:spPr>
          <a:xfrm flipH="false" flipV="false" rot="-2926989">
            <a:off x="-12431368" y="-8975965"/>
            <a:ext cx="27274407" cy="25058977"/>
          </a:xfrm>
          <a:custGeom>
            <a:avLst/>
            <a:gdLst/>
            <a:ahLst/>
            <a:cxnLst/>
            <a:rect r="r" b="b" t="t" l="l"/>
            <a:pathLst>
              <a:path h="25058977" w="27274407">
                <a:moveTo>
                  <a:pt x="0" y="0"/>
                </a:moveTo>
                <a:lnTo>
                  <a:pt x="27274407" y="0"/>
                </a:lnTo>
                <a:lnTo>
                  <a:pt x="27274407" y="25058977"/>
                </a:lnTo>
                <a:lnTo>
                  <a:pt x="0" y="250589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71525" y="2985134"/>
            <a:ext cx="16744950" cy="3734436"/>
          </a:xfrm>
          <a:prstGeom prst="rect">
            <a:avLst/>
          </a:prstGeom>
        </p:spPr>
        <p:txBody>
          <a:bodyPr anchor="t" rtlCol="false" tIns="0" lIns="0" bIns="0" rIns="0">
            <a:spAutoFit/>
          </a:bodyPr>
          <a:lstStyle/>
          <a:p>
            <a:pPr algn="ctr" marL="0" indent="0" lvl="0">
              <a:lnSpc>
                <a:spcPts val="30414"/>
              </a:lnSpc>
              <a:spcBef>
                <a:spcPct val="0"/>
              </a:spcBef>
            </a:pPr>
            <a:r>
              <a:rPr lang="en-US" sz="21724" spc="-434" u="none">
                <a:solidFill>
                  <a:srgbClr val="FBF1F2"/>
                </a:solidFill>
                <a:latin typeface="Tenor Sans"/>
                <a:ea typeface="Tenor Sans"/>
                <a:cs typeface="Tenor Sans"/>
                <a:sym typeface="Tenor San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DAG3RSoL4pc</dc:identifier>
  <dcterms:modified xsi:type="dcterms:W3CDTF">2011-08-01T06:04:30Z</dcterms:modified>
  <cp:revision>1</cp:revision>
  <dc:title>Machine Learning Project</dc:title>
</cp:coreProperties>
</file>